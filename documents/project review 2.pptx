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60" r:id="rId4"/>
    <p:sldId id="261" r:id="rId5"/>
    <p:sldId id="263" r:id="rId6"/>
    <p:sldId id="264" r:id="rId7"/>
    <p:sldId id="265" r:id="rId8"/>
    <p:sldId id="266" r:id="rId9"/>
    <p:sldId id="275" r:id="rId10"/>
    <p:sldId id="272" r:id="rId11"/>
    <p:sldId id="269"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803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54DB4-3490-9C5F-B7B3-7A64D4C95B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188600-E27F-D445-9D12-BFB58D3E74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473A63-5195-B143-517F-E6C1E0D2F1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49A615-D358-454F-E23C-DA58A07DCDCA}"/>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314378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26936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hariprasad2005/wavDINO-Emotion"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https://github.com/hariprasad2005/temporal-audiovisual-emotion"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73152" y="1099742"/>
            <a:ext cx="1280160" cy="320040"/>
          </a:xfrm>
          <a:prstGeom prst="rect">
            <a:avLst/>
          </a:prstGeom>
          <a:noFill/>
          <a:ln/>
        </p:spPr>
        <p:txBody>
          <a:bodyPr wrap="square" lIns="0" tIns="0" rIns="0" bIns="0" rtlCol="0" anchor="ctr"/>
          <a:lstStyle/>
          <a:p>
            <a:pPr marL="0" indent="0" algn="ctr">
              <a:buNone/>
            </a:pPr>
            <a:r>
              <a:rPr lang="en-US" sz="1400" b="1" dirty="0">
                <a:solidFill>
                  <a:srgbClr val="FFFFFF"/>
                </a:solidFill>
              </a:rPr>
              <a:t>REVIEW 1</a:t>
            </a:r>
            <a:endParaRPr lang="en-US" sz="1400" dirty="0"/>
          </a:p>
        </p:txBody>
      </p:sp>
      <p:sp>
        <p:nvSpPr>
          <p:cNvPr id="6" name="Text 4"/>
          <p:cNvSpPr/>
          <p:nvPr/>
        </p:nvSpPr>
        <p:spPr>
          <a:xfrm>
            <a:off x="497292" y="1709474"/>
            <a:ext cx="8503920" cy="1970924"/>
          </a:xfrm>
          <a:prstGeom prst="rect">
            <a:avLst/>
          </a:prstGeom>
          <a:noFill/>
          <a:ln/>
        </p:spPr>
        <p:txBody>
          <a:bodyPr wrap="square" rtlCol="0" anchor="ctr"/>
          <a:lstStyle/>
          <a:p>
            <a:r>
              <a:rPr lang="en-US" sz="3000" b="1" dirty="0">
                <a:latin typeface="Times New Roman" panose="02020603050405020304" pitchFamily="18" charset="0"/>
                <a:ea typeface="Calibri" pitchFamily="34" charset="-122"/>
                <a:cs typeface="Times New Roman" panose="02020603050405020304" pitchFamily="18" charset="0"/>
              </a:rPr>
              <a:t>Temporal Facial Dynamics–Driven Audio-Visual Emotion Recognition Using Vision Transformers</a:t>
            </a:r>
            <a:endParaRPr lang="en-US" sz="3000" b="1" dirty="0">
              <a:latin typeface="Times New Roman" panose="02020603050405020304" pitchFamily="18" charset="0"/>
              <a:cs typeface="Times New Roman" panose="02020603050405020304" pitchFamily="18" charset="0"/>
            </a:endParaRPr>
          </a:p>
          <a:p>
            <a:endParaRPr lang="en-US" sz="3000" dirty="0"/>
          </a:p>
          <a:p>
            <a:pPr marL="0" indent="0">
              <a:buNone/>
            </a:pPr>
            <a:r>
              <a:rPr lang="en-US" sz="3000" b="1" dirty="0">
                <a:latin typeface="Calibri" pitchFamily="34" charset="0"/>
                <a:ea typeface="Calibri" pitchFamily="34" charset="-122"/>
                <a:cs typeface="Calibri" pitchFamily="34" charset="-120"/>
              </a:rPr>
              <a:t> </a:t>
            </a:r>
            <a:endParaRPr lang="en-US" sz="3000" dirty="0"/>
          </a:p>
        </p:txBody>
      </p:sp>
      <p:sp>
        <p:nvSpPr>
          <p:cNvPr id="7" name="Text 5"/>
          <p:cNvSpPr/>
          <p:nvPr/>
        </p:nvSpPr>
        <p:spPr>
          <a:xfrm>
            <a:off x="365760" y="2058610"/>
            <a:ext cx="8503920" cy="594360"/>
          </a:xfrm>
          <a:prstGeom prst="rect">
            <a:avLst/>
          </a:prstGeom>
          <a:noFill/>
          <a:ln/>
        </p:spPr>
        <p:txBody>
          <a:bodyPr wrap="square" rtlCol="0" anchor="ctr"/>
          <a:lstStyle/>
          <a:p>
            <a:pPr marL="0" indent="0">
              <a:buNone/>
            </a:pPr>
            <a:endParaRPr lang="en-US" sz="3000" dirty="0"/>
          </a:p>
        </p:txBody>
      </p:sp>
      <p:sp>
        <p:nvSpPr>
          <p:cNvPr id="8" name="Text 6"/>
          <p:cNvSpPr/>
          <p:nvPr/>
        </p:nvSpPr>
        <p:spPr>
          <a:xfrm>
            <a:off x="365760" y="2608326"/>
            <a:ext cx="8503920" cy="457200"/>
          </a:xfrm>
          <a:prstGeom prst="rect">
            <a:avLst/>
          </a:prstGeom>
          <a:noFill/>
          <a:ln/>
        </p:spPr>
        <p:txBody>
          <a:bodyPr wrap="square" rtlCol="0" anchor="ctr"/>
          <a:lstStyle/>
          <a:p>
            <a:pPr marL="0" indent="0">
              <a:buNone/>
            </a:pPr>
            <a:endParaRPr lang="en-US" sz="3000" b="1" dirty="0"/>
          </a:p>
        </p:txBody>
      </p:sp>
      <p:sp>
        <p:nvSpPr>
          <p:cNvPr id="9" name="Text 7"/>
          <p:cNvSpPr/>
          <p:nvPr/>
        </p:nvSpPr>
        <p:spPr>
          <a:xfrm>
            <a:off x="426954" y="3452605"/>
            <a:ext cx="8503920" cy="880441"/>
          </a:xfrm>
          <a:prstGeom prst="rect">
            <a:avLst/>
          </a:prstGeom>
          <a:noFill/>
          <a:ln/>
        </p:spPr>
        <p:txBody>
          <a:bodyPr wrap="square" rtlCol="0" anchor="ctr"/>
          <a:lstStyle/>
          <a:p>
            <a:pPr marL="0" indent="0">
              <a:buNone/>
            </a:pPr>
            <a:r>
              <a:rPr lang="en-US" sz="1600" b="1" dirty="0">
                <a:latin typeface="Times New Roman" panose="02020603050405020304" pitchFamily="18" charset="0"/>
                <a:ea typeface="Calibri" pitchFamily="34" charset="-122"/>
                <a:cs typeface="Times New Roman" panose="02020603050405020304" pitchFamily="18" charset="0"/>
              </a:rPr>
              <a:t>GUIDE:                                                                                             TEAM MEMBERS:</a:t>
            </a:r>
          </a:p>
          <a:p>
            <a:pPr marL="0" indent="0">
              <a:lnSpc>
                <a:spcPct val="150000"/>
              </a:lnSpc>
              <a:buNone/>
            </a:pPr>
            <a:r>
              <a:rPr lang="en-US" sz="1600" b="1" dirty="0">
                <a:latin typeface="Times New Roman" panose="02020603050405020304" pitchFamily="18" charset="0"/>
                <a:ea typeface="Calibri" pitchFamily="34" charset="-122"/>
                <a:cs typeface="Times New Roman" panose="02020603050405020304" pitchFamily="18" charset="0"/>
              </a:rPr>
              <a:t>    Mrs. E. Padma AP/CSE                                                                  </a:t>
            </a:r>
            <a:r>
              <a:rPr lang="en-US" sz="1400" b="1" dirty="0">
                <a:latin typeface="Times New Roman" panose="02020603050405020304" pitchFamily="18" charset="0"/>
                <a:ea typeface="Calibri" pitchFamily="34" charset="-122"/>
                <a:cs typeface="Times New Roman" panose="02020603050405020304" pitchFamily="18" charset="0"/>
              </a:rPr>
              <a:t>Chanthuru S R (22CS013) </a:t>
            </a:r>
          </a:p>
          <a:p>
            <a:pPr marL="0" indent="0">
              <a:lnSpc>
                <a:spcPct val="150000"/>
              </a:lnSpc>
              <a:buNone/>
            </a:pPr>
            <a:r>
              <a:rPr lang="en-US" sz="1400" b="1" dirty="0">
                <a:latin typeface="Times New Roman" panose="02020603050405020304" pitchFamily="18" charset="0"/>
                <a:ea typeface="Calibri" pitchFamily="34" charset="-122"/>
                <a:cs typeface="Times New Roman" panose="02020603050405020304" pitchFamily="18" charset="0"/>
              </a:rPr>
              <a:t>                                                                                                                               Hariprasad M (22CS030) </a:t>
            </a:r>
          </a:p>
          <a:p>
            <a:pPr marL="0" indent="0">
              <a:lnSpc>
                <a:spcPct val="150000"/>
              </a:lnSpc>
              <a:buNone/>
            </a:pPr>
            <a:r>
              <a:rPr lang="en-US" sz="1400" b="1" dirty="0">
                <a:latin typeface="Times New Roman" panose="02020603050405020304" pitchFamily="18" charset="0"/>
                <a:ea typeface="Calibri" pitchFamily="34" charset="-122"/>
                <a:cs typeface="Times New Roman" panose="02020603050405020304" pitchFamily="18" charset="0"/>
              </a:rPr>
              <a:t>                                                                                                                               Mohana Prasath G (22CS050)</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365760" y="4124140"/>
            <a:ext cx="8503920" cy="548640"/>
          </a:xfrm>
          <a:prstGeom prst="rect">
            <a:avLst/>
          </a:prstGeom>
          <a:noFill/>
          <a:ln/>
        </p:spPr>
        <p:txBody>
          <a:bodyPr wrap="square" rtlCol="0" anchor="ctr"/>
          <a:lstStyle/>
          <a:p>
            <a:pPr marL="0" indent="0">
              <a:buNone/>
            </a:pPr>
            <a:endParaRPr lang="en-US" sz="1400" dirty="0"/>
          </a:p>
        </p:txBody>
      </p:sp>
      <p:sp>
        <p:nvSpPr>
          <p:cNvPr id="14" name="TextBox 13">
            <a:extLst>
              <a:ext uri="{FF2B5EF4-FFF2-40B4-BE49-F238E27FC236}">
                <a16:creationId xmlns:a16="http://schemas.microsoft.com/office/drawing/2014/main" id="{E73E66E9-2111-677F-D5A1-D7156B14D801}"/>
              </a:ext>
            </a:extLst>
          </p:cNvPr>
          <p:cNvSpPr txBox="1"/>
          <p:nvPr/>
        </p:nvSpPr>
        <p:spPr>
          <a:xfrm>
            <a:off x="1275793" y="255599"/>
            <a:ext cx="7725419" cy="769441"/>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NANDHA ENGINEERING COLLEGE</a:t>
            </a:r>
          </a:p>
          <a:p>
            <a:pPr algn="ctr"/>
            <a:r>
              <a:rPr lang="en-US" sz="2000" b="1" dirty="0">
                <a:latin typeface="Times New Roman" panose="02020603050405020304" pitchFamily="18" charset="0"/>
                <a:cs typeface="Times New Roman" panose="02020603050405020304" pitchFamily="18" charset="0"/>
              </a:rPr>
              <a:t>DEPARTMENT OF COMPUTER SCIENCE AND ENGINEERING</a:t>
            </a:r>
            <a:endParaRPr lang="en-IN" sz="2000" b="1" dirty="0">
              <a:latin typeface="Times New Roman" panose="02020603050405020304" pitchFamily="18" charset="0"/>
              <a:cs typeface="Times New Roman" panose="02020603050405020304" pitchFamily="18" charset="0"/>
            </a:endParaRPr>
          </a:p>
        </p:txBody>
      </p:sp>
      <p:pic>
        <p:nvPicPr>
          <p:cNvPr id="13" name="Picture 12" descr="A black and white logo">
            <a:extLst>
              <a:ext uri="{FF2B5EF4-FFF2-40B4-BE49-F238E27FC236}">
                <a16:creationId xmlns:a16="http://schemas.microsoft.com/office/drawing/2014/main" id="{000A59CE-60D8-D3A1-B507-1E6D57F40E6C}"/>
              </a:ext>
            </a:extLst>
          </p:cNvPr>
          <p:cNvPicPr>
            <a:picLocks noChangeAspect="1"/>
          </p:cNvPicPr>
          <p:nvPr/>
        </p:nvPicPr>
        <p:blipFill>
          <a:blip r:embed="rId3"/>
          <a:stretch>
            <a:fillRect/>
          </a:stretch>
        </p:blipFill>
        <p:spPr>
          <a:xfrm>
            <a:off x="73152" y="259769"/>
            <a:ext cx="1280160" cy="873859"/>
          </a:xfrm>
          <a:prstGeom prst="rect">
            <a:avLst/>
          </a:prstGeom>
        </p:spPr>
      </p:pic>
      <p:sp>
        <p:nvSpPr>
          <p:cNvPr id="2" name="TextBox 1">
            <a:extLst>
              <a:ext uri="{FF2B5EF4-FFF2-40B4-BE49-F238E27FC236}">
                <a16:creationId xmlns:a16="http://schemas.microsoft.com/office/drawing/2014/main" id="{29BA44AA-FB4B-8FE7-BCDB-628C5DA0864E}"/>
              </a:ext>
            </a:extLst>
          </p:cNvPr>
          <p:cNvSpPr txBox="1"/>
          <p:nvPr/>
        </p:nvSpPr>
        <p:spPr>
          <a:xfrm>
            <a:off x="3499338" y="1063143"/>
            <a:ext cx="2236763"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SECOND REVIEW</a:t>
            </a:r>
          </a:p>
          <a:p>
            <a:r>
              <a:rPr lang="en-US" b="1" dirty="0">
                <a:latin typeface="Times New Roman" panose="02020603050405020304" pitchFamily="18" charset="0"/>
                <a:cs typeface="Times New Roman" panose="02020603050405020304" pitchFamily="18" charset="0"/>
              </a:rPr>
              <a:t>        18/04/2026</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274320" y="48251"/>
            <a:ext cx="7772400" cy="685800"/>
          </a:xfrm>
          <a:prstGeom prst="rect">
            <a:avLst/>
          </a:prstGeom>
          <a:noFill/>
          <a:ln/>
        </p:spPr>
        <p:txBody>
          <a:bodyPr wrap="square" lIns="0" tIns="0" rIns="0" bIns="0" rtlCol="0" anchor="ctr"/>
          <a:lstStyle/>
          <a:p>
            <a:pPr marL="0" indent="0">
              <a:buNone/>
            </a:pPr>
            <a:r>
              <a:rPr lang="en-US" sz="2200" b="1" dirty="0">
                <a:latin typeface="Times New Roman" panose="02020603050405020304" pitchFamily="18" charset="0"/>
                <a:ea typeface="Calibri" pitchFamily="34" charset="-122"/>
                <a:cs typeface="Times New Roman" panose="02020603050405020304" pitchFamily="18" charset="0"/>
              </a:rPr>
              <a:t>ABSTRACT</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7772400" y="91440"/>
            <a:ext cx="1188720" cy="320040"/>
          </a:xfrm>
          <a:prstGeom prst="rect">
            <a:avLst/>
          </a:prstGeom>
          <a:noFill/>
          <a:ln/>
        </p:spPr>
        <p:txBody>
          <a:bodyPr wrap="square" lIns="0" tIns="0" rIns="0" bIns="0" rtlCol="0" anchor="ctr"/>
          <a:lstStyle/>
          <a:p>
            <a:pPr marL="0" indent="0" algn="ctr">
              <a:buNone/>
            </a:pPr>
            <a:endParaRPr lang="en-US" sz="1400" dirty="0"/>
          </a:p>
        </p:txBody>
      </p:sp>
      <p:sp>
        <p:nvSpPr>
          <p:cNvPr id="9" name="Text 7"/>
          <p:cNvSpPr/>
          <p:nvPr/>
        </p:nvSpPr>
        <p:spPr>
          <a:xfrm>
            <a:off x="388620" y="1211580"/>
            <a:ext cx="8366760" cy="320040"/>
          </a:xfrm>
          <a:prstGeom prst="rect">
            <a:avLst/>
          </a:prstGeom>
          <a:noFill/>
          <a:ln/>
        </p:spPr>
        <p:txBody>
          <a:bodyPr wrap="square" rtlCol="0" anchor="ctr"/>
          <a:lstStyle/>
          <a:p>
            <a:pPr marL="0" indent="0">
              <a:buNone/>
            </a:pPr>
            <a:endParaRPr lang="en-US" sz="1600" i="1" dirty="0">
              <a:latin typeface="Times New Roman" panose="02020603050405020304" pitchFamily="18" charset="0"/>
              <a:cs typeface="Times New Roman" panose="02020603050405020304" pitchFamily="18" charset="0"/>
            </a:endParaRPr>
          </a:p>
        </p:txBody>
      </p:sp>
      <p:sp>
        <p:nvSpPr>
          <p:cNvPr id="10" name="Text 8"/>
          <p:cNvSpPr/>
          <p:nvPr/>
        </p:nvSpPr>
        <p:spPr>
          <a:xfrm>
            <a:off x="388620" y="1138042"/>
            <a:ext cx="8366760" cy="3429669"/>
          </a:xfrm>
          <a:prstGeom prst="rect">
            <a:avLst/>
          </a:prstGeom>
          <a:noFill/>
          <a:ln/>
        </p:spPr>
        <p:txBody>
          <a:bodyPr wrap="square" rtlCol="0" anchor="t"/>
          <a:lstStyle/>
          <a:p>
            <a:pPr marL="0" indent="0" algn="just">
              <a:buNone/>
            </a:pPr>
            <a:r>
              <a:rPr lang="en-US" sz="1600" dirty="0">
                <a:latin typeface="Calibri" pitchFamily="34" charset="0"/>
                <a:ea typeface="Calibri" pitchFamily="34" charset="-122"/>
                <a:cs typeface="Calibri" pitchFamily="34" charset="-120"/>
              </a:rPr>
              <a:t>	</a:t>
            </a:r>
            <a:r>
              <a:rPr lang="en-US" sz="1600" dirty="0">
                <a:latin typeface="Times New Roman" panose="02020603050405020304" pitchFamily="18" charset="0"/>
                <a:ea typeface="Calibri" pitchFamily="34" charset="-122"/>
                <a:cs typeface="Times New Roman" panose="02020603050405020304" pitchFamily="18" charset="0"/>
              </a:rPr>
              <a:t>Emotion recognition is a key component of affective computing, enabling intelligent interaction in healthcare, education, and human-computer interaction. Many existing facial emotion recognition methods rely on static representations from a single frame, failing to capture how expressions evolve over time.</a:t>
            </a:r>
            <a:r>
              <a:rPr lang="en-US"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Calibri" pitchFamily="34" charset="-122"/>
                <a:cs typeface="Times New Roman" panose="02020603050405020304" pitchFamily="18" charset="0"/>
              </a:rPr>
              <a:t>This work proposes a Temporal Facial Dynamic-Driven Audio-Visual Emotion Recognition framework that uniformly samples multiple facial frames from video sequences</a:t>
            </a:r>
            <a:r>
              <a:rPr lang="en-US"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Calibri" pitchFamily="34" charset="-122"/>
                <a:cs typeface="Times New Roman" panose="02020603050405020304" pitchFamily="18" charset="0"/>
              </a:rPr>
              <a:t>encodes each frame using a Vision Transformer (DINOv2)</a:t>
            </a:r>
            <a:r>
              <a:rPr lang="en-US"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Calibri" pitchFamily="34" charset="-122"/>
                <a:cs typeface="Times New Roman" panose="02020603050405020304" pitchFamily="18" charset="0"/>
              </a:rPr>
              <a:t>aggregates frame-level embeddings via temporal average pooling</a:t>
            </a:r>
            <a:r>
              <a:rPr lang="en-US"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Calibri" pitchFamily="34" charset="-122"/>
                <a:cs typeface="Times New Roman" panose="02020603050405020304" pitchFamily="18" charset="0"/>
              </a:rPr>
              <a:t>fuses visual features with Wav2Vec 2.0 speech embeddings</a:t>
            </a:r>
            <a:r>
              <a:rPr lang="en-US" sz="1600" dirty="0">
                <a:latin typeface="Times New Roman" panose="02020603050405020304" pitchFamily="18" charset="0"/>
                <a:cs typeface="Times New Roman" panose="02020603050405020304" pitchFamily="18" charset="0"/>
              </a:rPr>
              <a:t> and </a:t>
            </a:r>
            <a:r>
              <a:rPr lang="en-US" sz="1600" dirty="0">
                <a:latin typeface="Times New Roman" panose="02020603050405020304" pitchFamily="18" charset="0"/>
                <a:ea typeface="Calibri" pitchFamily="34" charset="-122"/>
                <a:cs typeface="Times New Roman" panose="02020603050405020304" pitchFamily="18" charset="0"/>
              </a:rPr>
              <a:t>uses a transformer-based fusion network for emotion classification.</a:t>
            </a:r>
            <a:endParaRPr lang="en-US" sz="1600" dirty="0">
              <a:latin typeface="Times New Roman" panose="02020603050405020304" pitchFamily="18" charset="0"/>
              <a:cs typeface="Times New Roman" panose="02020603050405020304" pitchFamily="18" charset="0"/>
            </a:endParaRPr>
          </a:p>
          <a:p>
            <a:pPr marL="0" indent="0" algn="just">
              <a:buNone/>
            </a:pP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274320" y="39390"/>
            <a:ext cx="7772400" cy="685800"/>
          </a:xfrm>
          <a:prstGeom prst="rect">
            <a:avLst/>
          </a:prstGeom>
          <a:noFill/>
          <a:ln/>
        </p:spPr>
        <p:txBody>
          <a:bodyPr wrap="square" lIns="0" tIns="0" rIns="0" bIns="0" rtlCol="0" anchor="ctr"/>
          <a:lstStyle/>
          <a:p>
            <a:pPr marL="0" indent="0">
              <a:buNone/>
            </a:pPr>
            <a:r>
              <a:rPr lang="en-US" sz="2200" b="1" dirty="0">
                <a:latin typeface="Times New Roman" panose="02020603050405020304" pitchFamily="18" charset="0"/>
                <a:ea typeface="Calibri" pitchFamily="34" charset="-122"/>
                <a:cs typeface="Times New Roman" panose="02020603050405020304" pitchFamily="18" charset="0"/>
              </a:rPr>
              <a:t>EXISTING SYSTEM</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7772400" y="91440"/>
            <a:ext cx="1188720" cy="320040"/>
          </a:xfrm>
          <a:prstGeom prst="rect">
            <a:avLst/>
          </a:prstGeom>
          <a:noFill/>
          <a:ln/>
        </p:spPr>
        <p:txBody>
          <a:bodyPr wrap="square" lIns="0" tIns="0" rIns="0" bIns="0" rtlCol="0" anchor="ctr"/>
          <a:lstStyle/>
          <a:p>
            <a:pPr marL="0" indent="0" algn="ctr">
              <a:buNone/>
            </a:pPr>
            <a:endParaRPr lang="en-US" sz="1400" b="1" dirty="0">
              <a:solidFill>
                <a:srgbClr val="FFFFFF"/>
              </a:solidFill>
            </a:endParaRPr>
          </a:p>
        </p:txBody>
      </p:sp>
      <p:sp>
        <p:nvSpPr>
          <p:cNvPr id="9" name="Text 7"/>
          <p:cNvSpPr/>
          <p:nvPr/>
        </p:nvSpPr>
        <p:spPr>
          <a:xfrm>
            <a:off x="365760" y="987552"/>
            <a:ext cx="8458200" cy="320040"/>
          </a:xfrm>
          <a:prstGeom prst="rect">
            <a:avLst/>
          </a:prstGeom>
          <a:noFill/>
          <a:ln/>
        </p:spPr>
        <p:txBody>
          <a:bodyPr wrap="square" rtlCol="0" anchor="ctr"/>
          <a:lstStyle/>
          <a:p>
            <a:pPr marL="0" indent="0">
              <a:buNone/>
            </a:pPr>
            <a:r>
              <a:rPr lang="en-US" sz="1600" b="1" i="1" dirty="0">
                <a:latin typeface="Times New Roman" panose="02020603050405020304" pitchFamily="18" charset="0"/>
                <a:ea typeface="Calibri" pitchFamily="34" charset="-122"/>
                <a:cs typeface="Times New Roman" panose="02020603050405020304" pitchFamily="18" charset="0"/>
              </a:rPr>
              <a:t>Current Approach</a:t>
            </a:r>
            <a:endParaRPr lang="en-US" sz="1600" i="1" dirty="0">
              <a:latin typeface="Times New Roman" panose="02020603050405020304" pitchFamily="18" charset="0"/>
              <a:cs typeface="Times New Roman" panose="02020603050405020304" pitchFamily="18" charset="0"/>
            </a:endParaRPr>
          </a:p>
        </p:txBody>
      </p:sp>
      <p:sp>
        <p:nvSpPr>
          <p:cNvPr id="10" name="Text 8"/>
          <p:cNvSpPr/>
          <p:nvPr/>
        </p:nvSpPr>
        <p:spPr>
          <a:xfrm>
            <a:off x="365760" y="1298448"/>
            <a:ext cx="8458200" cy="713232"/>
          </a:xfrm>
          <a:prstGeom prst="rect">
            <a:avLst/>
          </a:prstGeom>
          <a:noFill/>
          <a:ln/>
        </p:spPr>
        <p:txBody>
          <a:bodyPr wrap="square" rtlCol="0" anchor="t"/>
          <a:lstStyle/>
          <a:p>
            <a:pPr marL="0" indent="0" algn="just">
              <a:buNone/>
            </a:pPr>
            <a:r>
              <a:rPr lang="en-US" sz="1400" dirty="0">
                <a:latin typeface="Times New Roman" panose="02020603050405020304" pitchFamily="18" charset="0"/>
                <a:ea typeface="Calibri" pitchFamily="34" charset="-122"/>
                <a:cs typeface="Times New Roman" panose="02020603050405020304" pitchFamily="18" charset="0"/>
              </a:rPr>
              <a:t>Most existing audio-visual emotion recognition systems process facial data as static patterns — extracting features from a single video frame — completely ignoring the temporal evolution of facial expressions.</a:t>
            </a:r>
            <a:endParaRPr lang="en-US" sz="1400" dirty="0">
              <a:latin typeface="Times New Roman" panose="02020603050405020304" pitchFamily="18" charset="0"/>
              <a:cs typeface="Times New Roman" panose="02020603050405020304" pitchFamily="18" charset="0"/>
            </a:endParaRPr>
          </a:p>
        </p:txBody>
      </p:sp>
      <p:sp>
        <p:nvSpPr>
          <p:cNvPr id="13" name="Text 11"/>
          <p:cNvSpPr/>
          <p:nvPr/>
        </p:nvSpPr>
        <p:spPr>
          <a:xfrm>
            <a:off x="411480" y="2251710"/>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Static Frame Analysis</a:t>
            </a:r>
            <a:endParaRPr lang="en-US" sz="1400" i="1" dirty="0">
              <a:latin typeface="Times New Roman" panose="02020603050405020304" pitchFamily="18" charset="0"/>
              <a:cs typeface="Times New Roman" panose="02020603050405020304" pitchFamily="18" charset="0"/>
            </a:endParaRPr>
          </a:p>
        </p:txBody>
      </p:sp>
      <p:sp>
        <p:nvSpPr>
          <p:cNvPr id="14" name="Text 12"/>
          <p:cNvSpPr/>
          <p:nvPr/>
        </p:nvSpPr>
        <p:spPr>
          <a:xfrm>
            <a:off x="411480" y="2562606"/>
            <a:ext cx="3977640" cy="713232"/>
          </a:xfrm>
          <a:prstGeom prst="rect">
            <a:avLst/>
          </a:prstGeom>
          <a:noFill/>
          <a:ln/>
        </p:spPr>
        <p:txBody>
          <a:bodyPr wrap="square" rtlCol="0" anchor="t"/>
          <a:lstStyle/>
          <a:p>
            <a:pPr marL="0" indent="0" algn="just">
              <a:buNone/>
            </a:pP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Only one frame per video is used, failing to capture micro-expressions and gradual emotional transitions over time.</a:t>
            </a:r>
            <a:endParaRPr lang="en-US" sz="1400" dirty="0">
              <a:latin typeface="Times New Roman" panose="02020603050405020304" pitchFamily="18" charset="0"/>
              <a:cs typeface="Times New Roman" panose="02020603050405020304" pitchFamily="18" charset="0"/>
            </a:endParaRPr>
          </a:p>
        </p:txBody>
      </p:sp>
      <p:sp>
        <p:nvSpPr>
          <p:cNvPr id="17" name="Text 15"/>
          <p:cNvSpPr/>
          <p:nvPr/>
        </p:nvSpPr>
        <p:spPr>
          <a:xfrm>
            <a:off x="4846320" y="2251710"/>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Temporal Dynamics Ignored</a:t>
            </a:r>
            <a:endParaRPr lang="en-US" sz="1400" i="1" dirty="0">
              <a:latin typeface="Times New Roman" panose="02020603050405020304" pitchFamily="18" charset="0"/>
              <a:cs typeface="Times New Roman" panose="02020603050405020304" pitchFamily="18" charset="0"/>
            </a:endParaRPr>
          </a:p>
        </p:txBody>
      </p:sp>
      <p:sp>
        <p:nvSpPr>
          <p:cNvPr id="18" name="Text 16"/>
          <p:cNvSpPr/>
          <p:nvPr/>
        </p:nvSpPr>
        <p:spPr>
          <a:xfrm>
            <a:off x="4846320" y="2562606"/>
            <a:ext cx="3977640" cy="713232"/>
          </a:xfrm>
          <a:prstGeom prst="rect">
            <a:avLst/>
          </a:prstGeom>
          <a:noFill/>
          <a:ln/>
        </p:spPr>
        <p:txBody>
          <a:bodyPr wrap="square" rtlCol="0" anchor="t"/>
          <a:lstStyle/>
          <a:p>
            <a:pPr marL="0" indent="0">
              <a:buNone/>
            </a:pP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Emotions evolve through subtle muscle movements; static methods miss the dynamic nature of affective states.</a:t>
            </a:r>
            <a:endParaRPr lang="en-US" sz="1400" dirty="0">
              <a:latin typeface="Times New Roman" panose="02020603050405020304" pitchFamily="18" charset="0"/>
              <a:cs typeface="Times New Roman" panose="02020603050405020304" pitchFamily="18" charset="0"/>
            </a:endParaRPr>
          </a:p>
        </p:txBody>
      </p:sp>
      <p:sp>
        <p:nvSpPr>
          <p:cNvPr id="21" name="Text 19"/>
          <p:cNvSpPr/>
          <p:nvPr/>
        </p:nvSpPr>
        <p:spPr>
          <a:xfrm>
            <a:off x="411480" y="3577590"/>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Misclassification Risk</a:t>
            </a:r>
            <a:endParaRPr lang="en-US" sz="1400" i="1" dirty="0">
              <a:latin typeface="Times New Roman" panose="02020603050405020304" pitchFamily="18" charset="0"/>
              <a:cs typeface="Times New Roman" panose="02020603050405020304" pitchFamily="18" charset="0"/>
            </a:endParaRPr>
          </a:p>
        </p:txBody>
      </p:sp>
      <p:sp>
        <p:nvSpPr>
          <p:cNvPr id="22" name="Text 20"/>
          <p:cNvSpPr/>
          <p:nvPr/>
        </p:nvSpPr>
        <p:spPr>
          <a:xfrm>
            <a:off x="411480" y="3888486"/>
            <a:ext cx="3977640" cy="713232"/>
          </a:xfrm>
          <a:prstGeom prst="rect">
            <a:avLst/>
          </a:prstGeom>
          <a:noFill/>
          <a:ln/>
        </p:spPr>
        <p:txBody>
          <a:bodyPr wrap="square" rtlCol="0" anchor="t"/>
          <a:lstStyle/>
          <a:p>
            <a:pPr marL="0" indent="0" algn="just">
              <a:buNone/>
            </a:pP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Similar static appearances of emotions like 'neutral' and 'sad' lead to high confusion rates in single-frame systems.</a:t>
            </a:r>
            <a:endParaRPr lang="en-US" sz="1400" dirty="0">
              <a:latin typeface="Times New Roman" panose="02020603050405020304" pitchFamily="18" charset="0"/>
              <a:cs typeface="Times New Roman" panose="02020603050405020304" pitchFamily="18" charset="0"/>
            </a:endParaRPr>
          </a:p>
        </p:txBody>
      </p:sp>
      <p:sp>
        <p:nvSpPr>
          <p:cNvPr id="25" name="Text 23"/>
          <p:cNvSpPr/>
          <p:nvPr/>
        </p:nvSpPr>
        <p:spPr>
          <a:xfrm>
            <a:off x="4846320" y="3577590"/>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Incomplete Multimodal Fusion</a:t>
            </a:r>
            <a:endParaRPr lang="en-US" sz="1400" i="1" dirty="0">
              <a:latin typeface="Times New Roman" panose="02020603050405020304" pitchFamily="18" charset="0"/>
              <a:cs typeface="Times New Roman" panose="02020603050405020304" pitchFamily="18" charset="0"/>
            </a:endParaRPr>
          </a:p>
        </p:txBody>
      </p:sp>
      <p:sp>
        <p:nvSpPr>
          <p:cNvPr id="26" name="Text 24"/>
          <p:cNvSpPr/>
          <p:nvPr/>
        </p:nvSpPr>
        <p:spPr>
          <a:xfrm>
            <a:off x="4846320" y="3888486"/>
            <a:ext cx="3977640" cy="713232"/>
          </a:xfrm>
          <a:prstGeom prst="rect">
            <a:avLst/>
          </a:prstGeom>
          <a:noFill/>
          <a:ln/>
        </p:spPr>
        <p:txBody>
          <a:bodyPr wrap="square" rtlCol="0" anchor="t"/>
          <a:lstStyle/>
          <a:p>
            <a:pPr marL="0" indent="0" algn="just">
              <a:buNone/>
            </a:pP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Audio-visual systems without temporal facial modeling underperform; missing expression dynamics reduces overall accuracy.</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274320" y="70866"/>
            <a:ext cx="7772400" cy="685800"/>
          </a:xfrm>
          <a:prstGeom prst="rect">
            <a:avLst/>
          </a:prstGeom>
          <a:noFill/>
          <a:ln/>
        </p:spPr>
        <p:txBody>
          <a:bodyPr wrap="square" lIns="0" tIns="0" rIns="0" bIns="0" rtlCol="0" anchor="ctr"/>
          <a:lstStyle/>
          <a:p>
            <a:pPr marL="0" indent="0">
              <a:buNone/>
            </a:pPr>
            <a:r>
              <a:rPr lang="en-US" sz="2200" b="1" dirty="0">
                <a:latin typeface="Times New Roman" panose="02020603050405020304" pitchFamily="18" charset="0"/>
                <a:ea typeface="Calibri" pitchFamily="34" charset="-122"/>
                <a:cs typeface="Times New Roman" panose="02020603050405020304" pitchFamily="18" charset="0"/>
              </a:rPr>
              <a:t>PROPOSED SYSTEM</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7772400" y="91440"/>
            <a:ext cx="1188720" cy="320040"/>
          </a:xfrm>
          <a:prstGeom prst="rect">
            <a:avLst/>
          </a:prstGeom>
          <a:noFill/>
          <a:ln/>
        </p:spPr>
        <p:txBody>
          <a:bodyPr wrap="square" lIns="0" tIns="0" rIns="0" bIns="0" rtlCol="0" anchor="ctr"/>
          <a:lstStyle/>
          <a:p>
            <a:pPr marL="0" indent="0" algn="ctr">
              <a:buNone/>
            </a:pPr>
            <a:endParaRPr lang="en-US" sz="1400" dirty="0"/>
          </a:p>
        </p:txBody>
      </p:sp>
      <p:sp>
        <p:nvSpPr>
          <p:cNvPr id="9" name="Text 7"/>
          <p:cNvSpPr/>
          <p:nvPr/>
        </p:nvSpPr>
        <p:spPr>
          <a:xfrm>
            <a:off x="306324" y="932688"/>
            <a:ext cx="8458200" cy="4119372"/>
          </a:xfrm>
          <a:prstGeom prst="rect">
            <a:avLst/>
          </a:prstGeom>
          <a:noFill/>
          <a:ln/>
        </p:spPr>
        <p:txBody>
          <a:bodyPr wrap="square" rtlCol="0" anchor="t"/>
          <a:lstStyle/>
          <a:p>
            <a:pPr lvl="0" algn="just"/>
            <a:r>
              <a:rPr lang="en-IN" sz="1600" dirty="0">
                <a:latin typeface="Times New Roman" panose="02020603050405020304" pitchFamily="18" charset="0"/>
                <a:cs typeface="Times New Roman" panose="02020603050405020304" pitchFamily="18" charset="0"/>
              </a:rPr>
              <a:t>      It captures facial expression changes over time instead of relying on a single static image. Multiple frames are extracted from video to represent emotion progression. Each frame is processed using a Vision Transformer to obtain visual features. These features are combined to form a temporal representation of facial emotions and audio signals are processed using a self-supervised speech model. The system extracts important speech features like tone, pitch, and emotion cues. Audio and visual features are fused together for better understanding. A transformer-based fusion model learns relationships between both modalities. The final output is accurate emotion classification. This approach improves performance by using both temporal facial data and audio signals. </a:t>
            </a:r>
          </a:p>
        </p:txBody>
      </p:sp>
      <p:sp>
        <p:nvSpPr>
          <p:cNvPr id="12" name="Text 10"/>
          <p:cNvSpPr/>
          <p:nvPr/>
        </p:nvSpPr>
        <p:spPr>
          <a:xfrm>
            <a:off x="301752" y="1901952"/>
            <a:ext cx="347472" cy="347472"/>
          </a:xfrm>
          <a:prstGeom prst="rect">
            <a:avLst/>
          </a:prstGeom>
          <a:noFill/>
          <a:ln/>
        </p:spPr>
        <p:txBody>
          <a:bodyPr wrap="square" lIns="0" tIns="0" rIns="0" bIns="0" rtlCol="0" anchor="ctr"/>
          <a:lstStyle/>
          <a:p>
            <a:pPr marL="0" indent="0" algn="ctr">
              <a:buNone/>
            </a:pPr>
            <a:endParaRPr lang="en-US" sz="1400" dirty="0"/>
          </a:p>
        </p:txBody>
      </p:sp>
      <p:sp>
        <p:nvSpPr>
          <p:cNvPr id="14" name="Text 12"/>
          <p:cNvSpPr/>
          <p:nvPr/>
        </p:nvSpPr>
        <p:spPr>
          <a:xfrm>
            <a:off x="338328" y="2286000"/>
            <a:ext cx="2633472" cy="749808"/>
          </a:xfrm>
          <a:prstGeom prst="rect">
            <a:avLst/>
          </a:prstGeom>
          <a:noFill/>
          <a:ln/>
        </p:spPr>
        <p:txBody>
          <a:bodyPr wrap="square" rtlCol="0" anchor="t"/>
          <a:lstStyle/>
          <a:p>
            <a:pPr marL="0" indent="0" algn="just">
              <a:buNone/>
            </a:pPr>
            <a:endParaRPr lang="en-US" sz="1400" dirty="0"/>
          </a:p>
        </p:txBody>
      </p:sp>
      <p:sp>
        <p:nvSpPr>
          <p:cNvPr id="17" name="Text 15"/>
          <p:cNvSpPr/>
          <p:nvPr/>
        </p:nvSpPr>
        <p:spPr>
          <a:xfrm>
            <a:off x="3227832" y="1901952"/>
            <a:ext cx="347472" cy="347472"/>
          </a:xfrm>
          <a:prstGeom prst="rect">
            <a:avLst/>
          </a:prstGeom>
          <a:noFill/>
          <a:ln/>
        </p:spPr>
        <p:txBody>
          <a:bodyPr wrap="square" lIns="0" tIns="0" rIns="0" bIns="0" rtlCol="0" anchor="ctr"/>
          <a:lstStyle/>
          <a:p>
            <a:pPr marL="0" indent="0" algn="ctr">
              <a:buNone/>
            </a:pPr>
            <a:endParaRPr lang="en-US" sz="1400" dirty="0"/>
          </a:p>
        </p:txBody>
      </p:sp>
      <p:sp>
        <p:nvSpPr>
          <p:cNvPr id="18" name="Text 16"/>
          <p:cNvSpPr/>
          <p:nvPr/>
        </p:nvSpPr>
        <p:spPr>
          <a:xfrm>
            <a:off x="3648456" y="1920240"/>
            <a:ext cx="2176272" cy="292608"/>
          </a:xfrm>
          <a:prstGeom prst="rect">
            <a:avLst/>
          </a:prstGeom>
          <a:noFill/>
          <a:ln/>
        </p:spPr>
        <p:txBody>
          <a:bodyPr wrap="square" rtlCol="0" anchor="ctr"/>
          <a:lstStyle/>
          <a:p>
            <a:pPr marL="0" indent="0">
              <a:buNone/>
            </a:pPr>
            <a:endParaRPr lang="en-US" sz="1400" dirty="0"/>
          </a:p>
        </p:txBody>
      </p:sp>
      <p:sp>
        <p:nvSpPr>
          <p:cNvPr id="19" name="Text 17"/>
          <p:cNvSpPr/>
          <p:nvPr/>
        </p:nvSpPr>
        <p:spPr>
          <a:xfrm>
            <a:off x="3264408" y="2286000"/>
            <a:ext cx="2542032" cy="749808"/>
          </a:xfrm>
          <a:prstGeom prst="rect">
            <a:avLst/>
          </a:prstGeom>
          <a:noFill/>
          <a:ln/>
        </p:spPr>
        <p:txBody>
          <a:bodyPr wrap="square" rtlCol="0" anchor="t"/>
          <a:lstStyle/>
          <a:p>
            <a:pPr marL="0" indent="0" algn="just">
              <a:buNone/>
            </a:pPr>
            <a:endParaRPr lang="en-US" sz="1400" dirty="0"/>
          </a:p>
        </p:txBody>
      </p:sp>
      <p:sp>
        <p:nvSpPr>
          <p:cNvPr id="22" name="Text 20"/>
          <p:cNvSpPr/>
          <p:nvPr/>
        </p:nvSpPr>
        <p:spPr>
          <a:xfrm>
            <a:off x="6153912" y="1901952"/>
            <a:ext cx="347472" cy="347472"/>
          </a:xfrm>
          <a:prstGeom prst="rect">
            <a:avLst/>
          </a:prstGeom>
          <a:noFill/>
          <a:ln/>
        </p:spPr>
        <p:txBody>
          <a:bodyPr wrap="square" lIns="0" tIns="0" rIns="0" bIns="0" rtlCol="0" anchor="ctr"/>
          <a:lstStyle/>
          <a:p>
            <a:pPr marL="0" indent="0" algn="ctr">
              <a:buNone/>
            </a:pPr>
            <a:endParaRPr lang="en-US" sz="1400" dirty="0"/>
          </a:p>
        </p:txBody>
      </p:sp>
      <p:sp>
        <p:nvSpPr>
          <p:cNvPr id="23" name="Text 21"/>
          <p:cNvSpPr/>
          <p:nvPr/>
        </p:nvSpPr>
        <p:spPr>
          <a:xfrm>
            <a:off x="6574536" y="1920240"/>
            <a:ext cx="2176272" cy="292608"/>
          </a:xfrm>
          <a:prstGeom prst="rect">
            <a:avLst/>
          </a:prstGeom>
          <a:noFill/>
          <a:ln/>
        </p:spPr>
        <p:txBody>
          <a:bodyPr wrap="square" rtlCol="0" anchor="ctr"/>
          <a:lstStyle/>
          <a:p>
            <a:pPr marL="0" indent="0">
              <a:buNone/>
            </a:pPr>
            <a:endParaRPr lang="en-US" sz="1400" dirty="0"/>
          </a:p>
        </p:txBody>
      </p:sp>
      <p:sp>
        <p:nvSpPr>
          <p:cNvPr id="24" name="Text 22"/>
          <p:cNvSpPr/>
          <p:nvPr/>
        </p:nvSpPr>
        <p:spPr>
          <a:xfrm>
            <a:off x="6190488" y="2286000"/>
            <a:ext cx="2542032" cy="749808"/>
          </a:xfrm>
          <a:prstGeom prst="rect">
            <a:avLst/>
          </a:prstGeom>
          <a:noFill/>
          <a:ln/>
        </p:spPr>
        <p:txBody>
          <a:bodyPr wrap="square" rtlCol="0" anchor="t"/>
          <a:lstStyle/>
          <a:p>
            <a:pPr marL="0" indent="0" algn="just">
              <a:buNone/>
            </a:pPr>
            <a:endParaRPr lang="en-US" sz="1400" dirty="0"/>
          </a:p>
        </p:txBody>
      </p:sp>
      <p:sp>
        <p:nvSpPr>
          <p:cNvPr id="27" name="Text 25"/>
          <p:cNvSpPr/>
          <p:nvPr/>
        </p:nvSpPr>
        <p:spPr>
          <a:xfrm>
            <a:off x="301752" y="3319272"/>
            <a:ext cx="347472" cy="347472"/>
          </a:xfrm>
          <a:prstGeom prst="rect">
            <a:avLst/>
          </a:prstGeom>
          <a:noFill/>
          <a:ln/>
        </p:spPr>
        <p:txBody>
          <a:bodyPr wrap="square" lIns="0" tIns="0" rIns="0" bIns="0" rtlCol="0" anchor="ctr"/>
          <a:lstStyle/>
          <a:p>
            <a:pPr marL="0" indent="0" algn="ctr">
              <a:buNone/>
            </a:pPr>
            <a:endParaRPr lang="en-US" sz="1400" dirty="0"/>
          </a:p>
        </p:txBody>
      </p:sp>
      <p:sp>
        <p:nvSpPr>
          <p:cNvPr id="28" name="Text 26"/>
          <p:cNvSpPr/>
          <p:nvPr/>
        </p:nvSpPr>
        <p:spPr>
          <a:xfrm>
            <a:off x="722376" y="3337560"/>
            <a:ext cx="2176272" cy="292608"/>
          </a:xfrm>
          <a:prstGeom prst="rect">
            <a:avLst/>
          </a:prstGeom>
          <a:noFill/>
          <a:ln/>
        </p:spPr>
        <p:txBody>
          <a:bodyPr wrap="square" rtlCol="0" anchor="ctr"/>
          <a:lstStyle/>
          <a:p>
            <a:pPr marL="0" indent="0">
              <a:buNone/>
            </a:pPr>
            <a:endParaRPr lang="en-US" sz="1400" dirty="0"/>
          </a:p>
        </p:txBody>
      </p:sp>
      <p:sp>
        <p:nvSpPr>
          <p:cNvPr id="29" name="Text 27"/>
          <p:cNvSpPr/>
          <p:nvPr/>
        </p:nvSpPr>
        <p:spPr>
          <a:xfrm>
            <a:off x="338328" y="3703320"/>
            <a:ext cx="2542032" cy="749808"/>
          </a:xfrm>
          <a:prstGeom prst="rect">
            <a:avLst/>
          </a:prstGeom>
          <a:noFill/>
          <a:ln/>
        </p:spPr>
        <p:txBody>
          <a:bodyPr wrap="square" rtlCol="0" anchor="t"/>
          <a:lstStyle/>
          <a:p>
            <a:pPr marL="0" indent="0" algn="just">
              <a:buNone/>
            </a:pPr>
            <a:endParaRPr lang="en-US" sz="1400" dirty="0">
              <a:solidFill>
                <a:srgbClr val="0D1B2A"/>
              </a:solidFill>
              <a:latin typeface="Calibri" pitchFamily="34" charset="0"/>
              <a:ea typeface="Calibri" pitchFamily="34" charset="-122"/>
              <a:cs typeface="Calibri" pitchFamily="34" charset="-120"/>
            </a:endParaRPr>
          </a:p>
        </p:txBody>
      </p:sp>
      <p:sp>
        <p:nvSpPr>
          <p:cNvPr id="32" name="Text 30"/>
          <p:cNvSpPr/>
          <p:nvPr/>
        </p:nvSpPr>
        <p:spPr>
          <a:xfrm>
            <a:off x="3227832" y="3319272"/>
            <a:ext cx="347472" cy="347472"/>
          </a:xfrm>
          <a:prstGeom prst="rect">
            <a:avLst/>
          </a:prstGeom>
          <a:noFill/>
          <a:ln/>
        </p:spPr>
        <p:txBody>
          <a:bodyPr wrap="square" lIns="0" tIns="0" rIns="0" bIns="0" rtlCol="0" anchor="ctr"/>
          <a:lstStyle/>
          <a:p>
            <a:pPr marL="0" indent="0" algn="ctr">
              <a:buNone/>
            </a:pPr>
            <a:endParaRPr lang="en-US" sz="1400" dirty="0"/>
          </a:p>
        </p:txBody>
      </p:sp>
      <p:sp>
        <p:nvSpPr>
          <p:cNvPr id="33" name="Text 31"/>
          <p:cNvSpPr/>
          <p:nvPr/>
        </p:nvSpPr>
        <p:spPr>
          <a:xfrm>
            <a:off x="3648456" y="3337560"/>
            <a:ext cx="2176272" cy="292608"/>
          </a:xfrm>
          <a:prstGeom prst="rect">
            <a:avLst/>
          </a:prstGeom>
          <a:noFill/>
          <a:ln/>
        </p:spPr>
        <p:txBody>
          <a:bodyPr wrap="square" rtlCol="0" anchor="ctr"/>
          <a:lstStyle/>
          <a:p>
            <a:pPr marL="0" indent="0">
              <a:buNone/>
            </a:pPr>
            <a:endParaRPr lang="en-US" sz="1400" dirty="0"/>
          </a:p>
        </p:txBody>
      </p:sp>
      <p:sp>
        <p:nvSpPr>
          <p:cNvPr id="34" name="Text 32"/>
          <p:cNvSpPr/>
          <p:nvPr/>
        </p:nvSpPr>
        <p:spPr>
          <a:xfrm>
            <a:off x="3264408" y="3703320"/>
            <a:ext cx="2542032" cy="749808"/>
          </a:xfrm>
          <a:prstGeom prst="rect">
            <a:avLst/>
          </a:prstGeom>
          <a:noFill/>
          <a:ln/>
        </p:spPr>
        <p:txBody>
          <a:bodyPr wrap="square" rtlCol="0" anchor="t"/>
          <a:lstStyle/>
          <a:p>
            <a:pPr marL="0" indent="0" algn="just">
              <a:buNone/>
            </a:pPr>
            <a:endParaRPr lang="en-US" sz="1400" dirty="0"/>
          </a:p>
        </p:txBody>
      </p:sp>
      <p:sp>
        <p:nvSpPr>
          <p:cNvPr id="37" name="Text 35"/>
          <p:cNvSpPr/>
          <p:nvPr/>
        </p:nvSpPr>
        <p:spPr>
          <a:xfrm>
            <a:off x="6153912" y="3319272"/>
            <a:ext cx="347472" cy="347472"/>
          </a:xfrm>
          <a:prstGeom prst="rect">
            <a:avLst/>
          </a:prstGeom>
          <a:noFill/>
          <a:ln/>
        </p:spPr>
        <p:txBody>
          <a:bodyPr wrap="square" lIns="0" tIns="0" rIns="0" bIns="0" rtlCol="0" anchor="ctr"/>
          <a:lstStyle/>
          <a:p>
            <a:pPr marL="0" indent="0" algn="ctr">
              <a:buNone/>
            </a:pPr>
            <a:endParaRPr lang="en-US" sz="1400" dirty="0"/>
          </a:p>
        </p:txBody>
      </p:sp>
      <p:sp>
        <p:nvSpPr>
          <p:cNvPr id="38" name="Text 36"/>
          <p:cNvSpPr/>
          <p:nvPr/>
        </p:nvSpPr>
        <p:spPr>
          <a:xfrm>
            <a:off x="6574536" y="3337560"/>
            <a:ext cx="2176272" cy="292608"/>
          </a:xfrm>
          <a:prstGeom prst="rect">
            <a:avLst/>
          </a:prstGeom>
          <a:noFill/>
          <a:ln/>
        </p:spPr>
        <p:txBody>
          <a:bodyPr wrap="square" rtlCol="0" anchor="ctr"/>
          <a:lstStyle/>
          <a:p>
            <a:pPr marL="0" indent="0">
              <a:buNone/>
            </a:pPr>
            <a:endParaRPr lang="en-US" sz="1400" dirty="0"/>
          </a:p>
        </p:txBody>
      </p:sp>
      <p:sp>
        <p:nvSpPr>
          <p:cNvPr id="39" name="Text 37"/>
          <p:cNvSpPr/>
          <p:nvPr/>
        </p:nvSpPr>
        <p:spPr>
          <a:xfrm>
            <a:off x="6190488" y="3959733"/>
            <a:ext cx="2542032" cy="563880"/>
          </a:xfrm>
          <a:prstGeom prst="rect">
            <a:avLst/>
          </a:prstGeom>
          <a:noFill/>
          <a:ln/>
        </p:spPr>
        <p:txBody>
          <a:bodyPr wrap="square" rtlCol="0" anchor="t"/>
          <a:lstStyle/>
          <a:p>
            <a:pPr marL="0" indent="0" algn="just">
              <a:buNone/>
            </a:pP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182880" y="50741"/>
            <a:ext cx="7772400" cy="685800"/>
          </a:xfrm>
          <a:prstGeom prst="rect">
            <a:avLst/>
          </a:prstGeom>
          <a:noFill/>
          <a:ln/>
        </p:spPr>
        <p:txBody>
          <a:bodyPr wrap="square" lIns="0" tIns="0" rIns="0" bIns="0" rtlCol="0" anchor="ctr"/>
          <a:lstStyle/>
          <a:p>
            <a:r>
              <a:rPr lang="en-US" sz="2200" b="1" dirty="0">
                <a:latin typeface="Times New Roman" panose="02020603050405020304" pitchFamily="18" charset="0"/>
                <a:ea typeface="Calibri" pitchFamily="34" charset="-122"/>
                <a:cs typeface="Times New Roman" panose="02020603050405020304" pitchFamily="18" charset="0"/>
              </a:rPr>
              <a:t> LIST &amp; DESCRIPTION MODULE</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7772400" y="91440"/>
            <a:ext cx="1188720" cy="320040"/>
          </a:xfrm>
          <a:prstGeom prst="rect">
            <a:avLst/>
          </a:prstGeom>
          <a:noFill/>
          <a:ln/>
        </p:spPr>
        <p:txBody>
          <a:bodyPr wrap="square" lIns="0" tIns="0" rIns="0" bIns="0" rtlCol="0" anchor="ctr"/>
          <a:lstStyle/>
          <a:p>
            <a:pPr marL="0" indent="0" algn="ctr">
              <a:buNone/>
            </a:pPr>
            <a:endParaRPr lang="en-US" sz="1400" dirty="0"/>
          </a:p>
        </p:txBody>
      </p:sp>
      <p:sp>
        <p:nvSpPr>
          <p:cNvPr id="9" name="Text 7"/>
          <p:cNvSpPr/>
          <p:nvPr/>
        </p:nvSpPr>
        <p:spPr>
          <a:xfrm>
            <a:off x="365760" y="987552"/>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Data Preprocessing</a:t>
            </a:r>
            <a:endParaRPr lang="en-US" sz="1400" i="1" dirty="0">
              <a:latin typeface="Times New Roman" panose="02020603050405020304" pitchFamily="18" charset="0"/>
              <a:cs typeface="Times New Roman" panose="02020603050405020304" pitchFamily="18" charset="0"/>
            </a:endParaRPr>
          </a:p>
        </p:txBody>
      </p:sp>
      <p:sp>
        <p:nvSpPr>
          <p:cNvPr id="10" name="Text 8"/>
          <p:cNvSpPr/>
          <p:nvPr/>
        </p:nvSpPr>
        <p:spPr>
          <a:xfrm>
            <a:off x="365760" y="1298448"/>
            <a:ext cx="3977640" cy="731520"/>
          </a:xfrm>
          <a:prstGeom prst="rect">
            <a:avLst/>
          </a:prstGeom>
          <a:noFill/>
          <a:ln/>
        </p:spPr>
        <p:txBody>
          <a:bodyPr wrap="square" rtlCol="0" anchor="t"/>
          <a:lstStyle/>
          <a:p>
            <a:pPr marL="0" indent="0" algn="just">
              <a:buNone/>
            </a:pPr>
            <a:r>
              <a:rPr lang="en-US" sz="1200" dirty="0">
                <a:solidFill>
                  <a:srgbClr val="0D1B2A"/>
                </a:solidFill>
                <a:latin typeface="Times New Roman" panose="02020603050405020304" pitchFamily="18" charset="0"/>
                <a:ea typeface="Calibri" pitchFamily="34" charset="-122"/>
                <a:cs typeface="Times New Roman" panose="02020603050405020304" pitchFamily="18" charset="0"/>
              </a:rPr>
              <a:t>Audio resampled to 16kHz and normalized. Facial region localized using MTCNN and resized to 224x224 px to meet Vision Transformer input requirements.</a:t>
            </a:r>
            <a:endParaRPr lang="en-US" sz="1200" dirty="0">
              <a:latin typeface="Times New Roman" panose="02020603050405020304" pitchFamily="18" charset="0"/>
              <a:cs typeface="Times New Roman" panose="02020603050405020304" pitchFamily="18" charset="0"/>
            </a:endParaRPr>
          </a:p>
        </p:txBody>
      </p:sp>
      <p:sp>
        <p:nvSpPr>
          <p:cNvPr id="13" name="Text 11"/>
          <p:cNvSpPr/>
          <p:nvPr/>
        </p:nvSpPr>
        <p:spPr>
          <a:xfrm>
            <a:off x="365760" y="2331720"/>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Temporal Frame Sampling</a:t>
            </a:r>
            <a:endParaRPr lang="en-US" sz="1400" i="1" dirty="0">
              <a:latin typeface="Times New Roman" panose="02020603050405020304" pitchFamily="18" charset="0"/>
              <a:cs typeface="Times New Roman" panose="02020603050405020304" pitchFamily="18" charset="0"/>
            </a:endParaRPr>
          </a:p>
        </p:txBody>
      </p:sp>
      <p:sp>
        <p:nvSpPr>
          <p:cNvPr id="14" name="Text 12"/>
          <p:cNvSpPr/>
          <p:nvPr/>
        </p:nvSpPr>
        <p:spPr>
          <a:xfrm>
            <a:off x="365760" y="2642616"/>
            <a:ext cx="3977640" cy="731520"/>
          </a:xfrm>
          <a:prstGeom prst="rect">
            <a:avLst/>
          </a:prstGeom>
          <a:noFill/>
          <a:ln/>
        </p:spPr>
        <p:txBody>
          <a:bodyPr wrap="square" rtlCol="0" anchor="t"/>
          <a:lstStyle/>
          <a:p>
            <a:pPr marL="0" indent="0" algn="just">
              <a:buNone/>
            </a:pPr>
            <a:r>
              <a:rPr lang="en-US" sz="1200" dirty="0">
                <a:solidFill>
                  <a:srgbClr val="0D1B2A"/>
                </a:solidFill>
                <a:latin typeface="Times New Roman" panose="02020603050405020304" pitchFamily="18" charset="0"/>
                <a:ea typeface="Calibri" pitchFamily="34" charset="-122"/>
                <a:cs typeface="Times New Roman" panose="02020603050405020304" pitchFamily="18" charset="0"/>
              </a:rPr>
              <a:t>8-16 frames uniformly sampled per video. Ensures sufficient temporal coverage of facial expression dynamics across the full video duration.</a:t>
            </a:r>
            <a:endParaRPr lang="en-US" sz="1200" dirty="0">
              <a:latin typeface="Times New Roman" panose="02020603050405020304" pitchFamily="18" charset="0"/>
              <a:cs typeface="Times New Roman" panose="02020603050405020304" pitchFamily="18" charset="0"/>
            </a:endParaRPr>
          </a:p>
        </p:txBody>
      </p:sp>
      <p:sp>
        <p:nvSpPr>
          <p:cNvPr id="17" name="Text 15"/>
          <p:cNvSpPr/>
          <p:nvPr/>
        </p:nvSpPr>
        <p:spPr>
          <a:xfrm>
            <a:off x="365760" y="3675888"/>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Visual Feature Extraction</a:t>
            </a:r>
            <a:endParaRPr lang="en-US" sz="1400" i="1" dirty="0">
              <a:latin typeface="Times New Roman" panose="02020603050405020304" pitchFamily="18" charset="0"/>
              <a:cs typeface="Times New Roman" panose="02020603050405020304" pitchFamily="18" charset="0"/>
            </a:endParaRPr>
          </a:p>
        </p:txBody>
      </p:sp>
      <p:sp>
        <p:nvSpPr>
          <p:cNvPr id="21" name="Text 19"/>
          <p:cNvSpPr/>
          <p:nvPr/>
        </p:nvSpPr>
        <p:spPr>
          <a:xfrm>
            <a:off x="4846320" y="987552"/>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Temporal Aggregation</a:t>
            </a:r>
            <a:endParaRPr lang="en-US" sz="1400" i="1" dirty="0">
              <a:latin typeface="Times New Roman" panose="02020603050405020304" pitchFamily="18" charset="0"/>
              <a:cs typeface="Times New Roman" panose="02020603050405020304" pitchFamily="18" charset="0"/>
            </a:endParaRPr>
          </a:p>
        </p:txBody>
      </p:sp>
      <p:sp>
        <p:nvSpPr>
          <p:cNvPr id="22" name="Text 20"/>
          <p:cNvSpPr/>
          <p:nvPr/>
        </p:nvSpPr>
        <p:spPr>
          <a:xfrm>
            <a:off x="4846320" y="1252728"/>
            <a:ext cx="3977640" cy="731520"/>
          </a:xfrm>
          <a:prstGeom prst="rect">
            <a:avLst/>
          </a:prstGeom>
          <a:noFill/>
          <a:ln/>
        </p:spPr>
        <p:txBody>
          <a:bodyPr wrap="square" rtlCol="0" anchor="t"/>
          <a:lstStyle/>
          <a:p>
            <a:pPr algn="just"/>
            <a:r>
              <a:rPr lang="en-US" sz="1200" dirty="0">
                <a:latin typeface="Times New Roman" panose="02020603050405020304" pitchFamily="18" charset="0"/>
                <a:cs typeface="Times New Roman" panose="02020603050405020304" pitchFamily="18" charset="0"/>
              </a:rPr>
              <a:t>This module combines the frame-level visual features into a single representation. Temporal average pooling is applied to capture the progression of facial expressions, helping the model understand emotion dynamics instead of static images.</a:t>
            </a:r>
          </a:p>
        </p:txBody>
      </p:sp>
      <p:sp>
        <p:nvSpPr>
          <p:cNvPr id="25" name="Text 23"/>
          <p:cNvSpPr/>
          <p:nvPr/>
        </p:nvSpPr>
        <p:spPr>
          <a:xfrm>
            <a:off x="4846320" y="2331720"/>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Audio Feature Extraction</a:t>
            </a:r>
            <a:endParaRPr lang="en-US" sz="1400" i="1" dirty="0">
              <a:latin typeface="Times New Roman" panose="02020603050405020304" pitchFamily="18" charset="0"/>
              <a:cs typeface="Times New Roman" panose="02020603050405020304" pitchFamily="18" charset="0"/>
            </a:endParaRPr>
          </a:p>
        </p:txBody>
      </p:sp>
      <p:sp>
        <p:nvSpPr>
          <p:cNvPr id="26" name="Text 24"/>
          <p:cNvSpPr/>
          <p:nvPr/>
        </p:nvSpPr>
        <p:spPr>
          <a:xfrm>
            <a:off x="4846320" y="2642616"/>
            <a:ext cx="3977640" cy="731520"/>
          </a:xfrm>
          <a:prstGeom prst="rect">
            <a:avLst/>
          </a:prstGeom>
          <a:noFill/>
          <a:ln/>
        </p:spPr>
        <p:txBody>
          <a:bodyPr wrap="square" rtlCol="0" anchor="t"/>
          <a:lstStyle/>
          <a:p>
            <a:pPr marL="0" indent="0" algn="just">
              <a:buNone/>
            </a:pPr>
            <a:r>
              <a:rPr lang="en-US" sz="1200" dirty="0">
                <a:solidFill>
                  <a:srgbClr val="0D1B2A"/>
                </a:solidFill>
                <a:latin typeface="Times New Roman" panose="02020603050405020304" pitchFamily="18" charset="0"/>
                <a:ea typeface="Calibri" pitchFamily="34" charset="-122"/>
                <a:cs typeface="Times New Roman" panose="02020603050405020304" pitchFamily="18" charset="0"/>
              </a:rPr>
              <a:t>Wav2Vec 2.0 encodes raw speech waveforms into fixed-length embeddings capturing emotional acoustic properties: tone, pitch, and prosody.</a:t>
            </a:r>
            <a:endParaRPr lang="en-US" sz="1200" dirty="0">
              <a:latin typeface="Times New Roman" panose="02020603050405020304" pitchFamily="18" charset="0"/>
              <a:cs typeface="Times New Roman" panose="02020603050405020304" pitchFamily="18" charset="0"/>
            </a:endParaRPr>
          </a:p>
        </p:txBody>
      </p:sp>
      <p:sp>
        <p:nvSpPr>
          <p:cNvPr id="29" name="Text 27"/>
          <p:cNvSpPr/>
          <p:nvPr/>
        </p:nvSpPr>
        <p:spPr>
          <a:xfrm>
            <a:off x="4846320" y="3675888"/>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Multimodal Fusion</a:t>
            </a:r>
            <a:endParaRPr lang="en-US" sz="1400" i="1" dirty="0">
              <a:latin typeface="Times New Roman" panose="02020603050405020304" pitchFamily="18" charset="0"/>
              <a:cs typeface="Times New Roman" panose="02020603050405020304" pitchFamily="18" charset="0"/>
            </a:endParaRPr>
          </a:p>
        </p:txBody>
      </p:sp>
      <p:sp>
        <p:nvSpPr>
          <p:cNvPr id="30" name="Text 28"/>
          <p:cNvSpPr/>
          <p:nvPr/>
        </p:nvSpPr>
        <p:spPr>
          <a:xfrm>
            <a:off x="4846320" y="3986784"/>
            <a:ext cx="3977640" cy="731520"/>
          </a:xfrm>
          <a:prstGeom prst="rect">
            <a:avLst/>
          </a:prstGeom>
          <a:noFill/>
          <a:ln/>
        </p:spPr>
        <p:txBody>
          <a:bodyPr wrap="square" rtlCol="0" anchor="t"/>
          <a:lstStyle/>
          <a:p>
            <a:pPr algn="just"/>
            <a:r>
              <a:rPr lang="en-US" sz="1200" dirty="0">
                <a:latin typeface="Times New Roman" panose="02020603050405020304" pitchFamily="18" charset="0"/>
                <a:cs typeface="Times New Roman" panose="02020603050405020304" pitchFamily="18" charset="0"/>
              </a:rPr>
              <a:t>This module merges audio and visual features using a transformer model to improve emotion recognition by learning relationships between speech and facial expressions.</a:t>
            </a:r>
          </a:p>
        </p:txBody>
      </p:sp>
      <p:sp>
        <p:nvSpPr>
          <p:cNvPr id="31" name="Rectangle 30"/>
          <p:cNvSpPr/>
          <p:nvPr/>
        </p:nvSpPr>
        <p:spPr>
          <a:xfrm>
            <a:off x="376428" y="3986784"/>
            <a:ext cx="3966972" cy="646331"/>
          </a:xfrm>
          <a:prstGeom prst="rect">
            <a:avLst/>
          </a:prstGeom>
        </p:spPr>
        <p:txBody>
          <a:bodyPr wrap="square">
            <a:spAutoFit/>
          </a:bodyPr>
          <a:lstStyle/>
          <a:p>
            <a:r>
              <a:rPr lang="en-US" sz="1200" dirty="0">
                <a:latin typeface="Times New Roman" panose="02020603050405020304" pitchFamily="18" charset="0"/>
                <a:cs typeface="Times New Roman" panose="02020603050405020304" pitchFamily="18" charset="0"/>
              </a:rPr>
              <a:t>This module extracts facial features from video by sampling frames, detecting faces using MTCNN, and generating visual embeddings through a Vision Transformer.</a:t>
            </a:r>
            <a:endParaRPr lang="en-IN" sz="1200" dirty="0">
              <a:solidFill>
                <a:schemeClr val="tx1"/>
              </a:solidFill>
              <a:latin typeface="Times New Roman" panose="02020603050405020304" pitchFamily="18" charset="0"/>
              <a:cs typeface="Times New Roman" panose="02020603050405020304" pitchFamily="18" charset="0"/>
            </a:endParaRPr>
          </a:p>
        </p:txBody>
      </p:sp>
      <p:sp>
        <p:nvSpPr>
          <p:cNvPr id="32" name="TextBox 31"/>
          <p:cNvSpPr txBox="1"/>
          <p:nvPr/>
        </p:nvSpPr>
        <p:spPr>
          <a:xfrm>
            <a:off x="4114800" y="2187758"/>
            <a:ext cx="65" cy="276999"/>
          </a:xfrm>
          <a:prstGeom prst="rect">
            <a:avLst/>
          </a:prstGeom>
          <a:noFill/>
        </p:spPr>
        <p:txBody>
          <a:bodyPr wrap="none" lIns="0" tIns="0" rIns="0" bIns="0" rtlCol="0">
            <a:spAutoFit/>
          </a:bodyPr>
          <a:lstStyle/>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274320" y="91440"/>
            <a:ext cx="7772400" cy="685800"/>
          </a:xfrm>
          <a:prstGeom prst="rect">
            <a:avLst/>
          </a:prstGeom>
          <a:noFill/>
          <a:ln/>
        </p:spPr>
        <p:txBody>
          <a:bodyPr wrap="square" lIns="0" tIns="0" rIns="0" bIns="0" rtlCol="0" anchor="ctr"/>
          <a:lstStyle/>
          <a:p>
            <a:pPr marL="0" indent="0">
              <a:buNone/>
            </a:pPr>
            <a:r>
              <a:rPr lang="en-US" sz="2200" b="1" dirty="0">
                <a:latin typeface="Times New Roman" panose="02020603050405020304" pitchFamily="18" charset="0"/>
                <a:ea typeface="Calibri" pitchFamily="34" charset="-122"/>
                <a:cs typeface="Times New Roman" panose="02020603050405020304" pitchFamily="18" charset="0"/>
              </a:rPr>
              <a:t>COMPLETION OF HALF OF THE MODULES</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7772400" y="91440"/>
            <a:ext cx="1188720" cy="320040"/>
          </a:xfrm>
          <a:prstGeom prst="rect">
            <a:avLst/>
          </a:prstGeom>
          <a:noFill/>
          <a:ln/>
        </p:spPr>
        <p:txBody>
          <a:bodyPr wrap="square" lIns="0" tIns="0" rIns="0" bIns="0" rtlCol="0" anchor="ctr"/>
          <a:lstStyle/>
          <a:p>
            <a:pPr marL="0" indent="0" algn="ctr">
              <a:buNone/>
            </a:pPr>
            <a:endParaRPr lang="en-US" sz="1400" dirty="0"/>
          </a:p>
        </p:txBody>
      </p:sp>
      <p:sp>
        <p:nvSpPr>
          <p:cNvPr id="8" name="TextBox 7">
            <a:extLst>
              <a:ext uri="{FF2B5EF4-FFF2-40B4-BE49-F238E27FC236}">
                <a16:creationId xmlns:a16="http://schemas.microsoft.com/office/drawing/2014/main" id="{A6AE1AC0-A9ED-E906-89E3-697A86756CFE}"/>
              </a:ext>
            </a:extLst>
          </p:cNvPr>
          <p:cNvSpPr txBox="1"/>
          <p:nvPr/>
        </p:nvSpPr>
        <p:spPr>
          <a:xfrm>
            <a:off x="737233" y="2688804"/>
            <a:ext cx="7253218" cy="369332"/>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p:txBody>
      </p:sp>
      <p:sp>
        <p:nvSpPr>
          <p:cNvPr id="10" name="Rectangle 2">
            <a:extLst>
              <a:ext uri="{FF2B5EF4-FFF2-40B4-BE49-F238E27FC236}">
                <a16:creationId xmlns:a16="http://schemas.microsoft.com/office/drawing/2014/main" id="{BB637E29-8D6E-F69E-F739-57E1119BC344}"/>
              </a:ext>
            </a:extLst>
          </p:cNvPr>
          <p:cNvSpPr>
            <a:spLocks noChangeArrowheads="1"/>
          </p:cNvSpPr>
          <p:nvPr/>
        </p:nvSpPr>
        <p:spPr bwMode="auto">
          <a:xfrm>
            <a:off x="225082" y="976515"/>
            <a:ext cx="8419515"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project has successfully completed half of its modules, focusing on key UI enhancements and implementation milestones. The interface now supports real-time emotion detection with a webcam preview, along with emotion probability visualization through charts and an emotion timeline to track changes across frames. An interactive dashboard has also been developed to display detected emotions along with confidence scores. In terms of progress, both the model implementation and result visualization have been fully completed, marking significant advancement in the system’s development.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274320" y="41978"/>
            <a:ext cx="7772400" cy="685800"/>
          </a:xfrm>
          <a:prstGeom prst="rect">
            <a:avLst/>
          </a:prstGeom>
          <a:noFill/>
          <a:ln/>
        </p:spPr>
        <p:txBody>
          <a:bodyPr wrap="square" lIns="0" tIns="0" rIns="0" bIns="0" rtlCol="0" anchor="ctr"/>
          <a:lstStyle/>
          <a:p>
            <a:pPr marL="0" indent="0">
              <a:buNone/>
            </a:pPr>
            <a:r>
              <a:rPr lang="en-US" sz="2200" b="1" dirty="0">
                <a:latin typeface="Times New Roman" panose="02020603050405020304" pitchFamily="18" charset="0"/>
                <a:ea typeface="Calibri" pitchFamily="34" charset="-122"/>
                <a:cs typeface="Times New Roman" panose="02020603050405020304" pitchFamily="18" charset="0"/>
              </a:rPr>
              <a:t>SCREENSHOT</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7772400" y="91440"/>
            <a:ext cx="1188720" cy="320040"/>
          </a:xfrm>
          <a:prstGeom prst="rect">
            <a:avLst/>
          </a:prstGeom>
          <a:noFill/>
          <a:ln/>
        </p:spPr>
        <p:txBody>
          <a:bodyPr wrap="square" lIns="0" tIns="0" rIns="0" bIns="0" rtlCol="0" anchor="ctr"/>
          <a:lstStyle/>
          <a:p>
            <a:pPr marL="0" indent="0" algn="ctr">
              <a:buNone/>
            </a:pPr>
            <a:endParaRPr lang="en-US" sz="1400" dirty="0"/>
          </a:p>
        </p:txBody>
      </p:sp>
      <p:sp>
        <p:nvSpPr>
          <p:cNvPr id="23" name="AutoShape 2" descr="blob:https://web.whatsapp.com/de028312-4c07-4a2c-afbf-21293f3f87f3"/>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6" name="AutoShape 4" descr="blob:https://web.whatsapp.com/d37035cc-5531-4f7f-93ec-178d5582248d"/>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 name="Picture 1">
            <a:extLst>
              <a:ext uri="{FF2B5EF4-FFF2-40B4-BE49-F238E27FC236}">
                <a16:creationId xmlns:a16="http://schemas.microsoft.com/office/drawing/2014/main" id="{5C3C8691-7134-A841-9D74-999765358A3E}"/>
              </a:ext>
            </a:extLst>
          </p:cNvPr>
          <p:cNvPicPr>
            <a:picLocks noChangeAspect="1"/>
          </p:cNvPicPr>
          <p:nvPr/>
        </p:nvPicPr>
        <p:blipFill>
          <a:blip r:embed="rId3"/>
          <a:stretch>
            <a:fillRect/>
          </a:stretch>
        </p:blipFill>
        <p:spPr>
          <a:xfrm>
            <a:off x="460375" y="1331451"/>
            <a:ext cx="4192007" cy="2342001"/>
          </a:xfrm>
          <a:prstGeom prst="rect">
            <a:avLst/>
          </a:prstGeom>
        </p:spPr>
      </p:pic>
      <p:pic>
        <p:nvPicPr>
          <p:cNvPr id="3" name="Picture 2">
            <a:extLst>
              <a:ext uri="{FF2B5EF4-FFF2-40B4-BE49-F238E27FC236}">
                <a16:creationId xmlns:a16="http://schemas.microsoft.com/office/drawing/2014/main" id="{2C57404B-675E-99A8-C4E5-09C9C3EF6988}"/>
              </a:ext>
            </a:extLst>
          </p:cNvPr>
          <p:cNvPicPr>
            <a:picLocks noChangeAspect="1"/>
          </p:cNvPicPr>
          <p:nvPr/>
        </p:nvPicPr>
        <p:blipFill>
          <a:blip r:embed="rId4"/>
          <a:srcRect l="9193" r="6110"/>
          <a:stretch>
            <a:fillRect/>
          </a:stretch>
        </p:blipFill>
        <p:spPr>
          <a:xfrm>
            <a:off x="5162843" y="1331451"/>
            <a:ext cx="3685735" cy="234200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228600" y="34290"/>
            <a:ext cx="7772400" cy="685800"/>
          </a:xfrm>
          <a:prstGeom prst="rect">
            <a:avLst/>
          </a:prstGeom>
          <a:noFill/>
          <a:ln/>
        </p:spPr>
        <p:txBody>
          <a:bodyPr wrap="square" lIns="0" tIns="0" rIns="0" bIns="0" rtlCol="0" anchor="ctr"/>
          <a:lstStyle/>
          <a:p>
            <a:pPr marL="0" indent="0">
              <a:buNone/>
            </a:pPr>
            <a:r>
              <a:rPr lang="en-US" sz="2200" b="1" dirty="0">
                <a:latin typeface="Times New Roman" panose="02020603050405020304" pitchFamily="18" charset="0"/>
                <a:ea typeface="Calibri" pitchFamily="34" charset="-122"/>
                <a:cs typeface="Times New Roman" panose="02020603050405020304" pitchFamily="18" charset="0"/>
              </a:rPr>
              <a:t>DEMO — RESULTS &amp; EVALUATION</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7772400" y="91440"/>
            <a:ext cx="1188720" cy="320040"/>
          </a:xfrm>
          <a:prstGeom prst="rect">
            <a:avLst/>
          </a:prstGeom>
          <a:noFill/>
          <a:ln/>
        </p:spPr>
        <p:txBody>
          <a:bodyPr wrap="square" lIns="0" tIns="0" rIns="0" bIns="0" rtlCol="0" anchor="ctr"/>
          <a:lstStyle/>
          <a:p>
            <a:pPr marL="0" indent="0" algn="ctr">
              <a:buNone/>
            </a:pPr>
            <a:endParaRPr lang="en-US" sz="1400" dirty="0"/>
          </a:p>
        </p:txBody>
      </p:sp>
      <p:sp>
        <p:nvSpPr>
          <p:cNvPr id="7" name="Text 5"/>
          <p:cNvSpPr/>
          <p:nvPr/>
        </p:nvSpPr>
        <p:spPr>
          <a:xfrm>
            <a:off x="228600" y="914400"/>
            <a:ext cx="4206240" cy="320040"/>
          </a:xfrm>
          <a:prstGeom prst="rect">
            <a:avLst/>
          </a:prstGeom>
          <a:noFill/>
          <a:ln/>
        </p:spPr>
        <p:txBody>
          <a:bodyPr wrap="square" rtlCol="0" anchor="ctr"/>
          <a:lstStyle/>
          <a:p>
            <a:pPr marL="0" indent="0">
              <a:buNone/>
            </a:pPr>
            <a:r>
              <a:rPr lang="en-US" sz="1300" b="1" i="1" dirty="0">
                <a:latin typeface="Times New Roman" panose="02020603050405020304" pitchFamily="18" charset="0"/>
                <a:ea typeface="Calibri" pitchFamily="34" charset="-122"/>
                <a:cs typeface="Times New Roman" panose="02020603050405020304" pitchFamily="18" charset="0"/>
              </a:rPr>
              <a:t>Dataset-wise Performance</a:t>
            </a:r>
            <a:endParaRPr lang="en-US" sz="1300" i="1" dirty="0">
              <a:latin typeface="Times New Roman" panose="02020603050405020304" pitchFamily="18" charset="0"/>
              <a:cs typeface="Times New Roman" panose="02020603050405020304" pitchFamily="18" charset="0"/>
            </a:endParaRPr>
          </a:p>
        </p:txBody>
      </p:sp>
      <p:sp>
        <p:nvSpPr>
          <p:cNvPr id="8" name="Shape 6"/>
          <p:cNvSpPr/>
          <p:nvPr/>
        </p:nvSpPr>
        <p:spPr>
          <a:xfrm>
            <a:off x="228600" y="1261872"/>
            <a:ext cx="4206240" cy="347472"/>
          </a:xfrm>
          <a:prstGeom prst="rect">
            <a:avLst/>
          </a:prstGeom>
          <a:solidFill>
            <a:srgbClr val="0D1B2A"/>
          </a:solidFill>
          <a:ln w="12700">
            <a:solidFill>
              <a:srgbClr val="0D1B2A"/>
            </a:solidFill>
            <a:prstDash val="solid"/>
          </a:ln>
        </p:spPr>
      </p:sp>
      <p:sp>
        <p:nvSpPr>
          <p:cNvPr id="9" name="Text 7"/>
          <p:cNvSpPr/>
          <p:nvPr/>
        </p:nvSpPr>
        <p:spPr>
          <a:xfrm>
            <a:off x="320040" y="1261872"/>
            <a:ext cx="4023360" cy="347472"/>
          </a:xfrm>
          <a:prstGeom prst="rect">
            <a:avLst/>
          </a:prstGeom>
          <a:noFill/>
          <a:ln/>
        </p:spPr>
        <p:txBody>
          <a:bodyPr wrap="square" rtlCol="0" anchor="ctr"/>
          <a:lstStyle/>
          <a:p>
            <a:pPr marL="0" indent="0">
              <a:buNone/>
            </a:pPr>
            <a:r>
              <a:rPr lang="en-US" sz="1100" b="1" dirty="0">
                <a:solidFill>
                  <a:srgbClr val="FFFFFF"/>
                </a:solidFill>
                <a:latin typeface="Times New Roman" panose="02020603050405020304" pitchFamily="18" charset="0"/>
                <a:cs typeface="Times New Roman" panose="02020603050405020304" pitchFamily="18" charset="0"/>
              </a:rPr>
              <a:t>Dataset         Accuracy     F1-Score</a:t>
            </a:r>
            <a:endParaRPr lang="en-US" sz="1100" dirty="0">
              <a:latin typeface="Times New Roman" panose="02020603050405020304" pitchFamily="18" charset="0"/>
              <a:cs typeface="Times New Roman" panose="02020603050405020304" pitchFamily="18" charset="0"/>
            </a:endParaRPr>
          </a:p>
        </p:txBody>
      </p:sp>
      <p:sp>
        <p:nvSpPr>
          <p:cNvPr id="10" name="Shape 8"/>
          <p:cNvSpPr/>
          <p:nvPr/>
        </p:nvSpPr>
        <p:spPr>
          <a:xfrm>
            <a:off x="228600" y="1609344"/>
            <a:ext cx="4206240" cy="365760"/>
          </a:xfrm>
          <a:prstGeom prst="rect">
            <a:avLst/>
          </a:prstGeom>
          <a:solidFill>
            <a:srgbClr val="FFFFFF"/>
          </a:solidFill>
          <a:ln w="6350">
            <a:solidFill>
              <a:srgbClr val="E2E8F0"/>
            </a:solidFill>
            <a:prstDash val="solid"/>
          </a:ln>
        </p:spPr>
      </p:sp>
      <p:sp>
        <p:nvSpPr>
          <p:cNvPr id="11" name="Text 9"/>
          <p:cNvSpPr/>
          <p:nvPr/>
        </p:nvSpPr>
        <p:spPr>
          <a:xfrm>
            <a:off x="320040" y="1627632"/>
            <a:ext cx="4023360" cy="320040"/>
          </a:xfrm>
          <a:prstGeom prst="rect">
            <a:avLst/>
          </a:prstGeom>
          <a:noFill/>
          <a:ln/>
        </p:spPr>
        <p:txBody>
          <a:bodyPr wrap="square" rtlCol="0" anchor="ctr"/>
          <a:lstStyle/>
          <a:p>
            <a:pPr marL="0" indent="0">
              <a:buNone/>
            </a:pPr>
            <a:r>
              <a:rPr lang="en-US" sz="1200" dirty="0">
                <a:solidFill>
                  <a:srgbClr val="0D1B2A"/>
                </a:solidFill>
                <a:latin typeface="Times New Roman" panose="02020603050405020304" pitchFamily="18" charset="0"/>
                <a:ea typeface="Calibri" pitchFamily="34" charset="-122"/>
                <a:cs typeface="Times New Roman" panose="02020603050405020304" pitchFamily="18" charset="0"/>
              </a:rPr>
              <a:t>CREMA-D    87.8%         0.87</a:t>
            </a:r>
            <a:endParaRPr lang="en-US" sz="1200" dirty="0">
              <a:latin typeface="Times New Roman" panose="02020603050405020304" pitchFamily="18" charset="0"/>
              <a:cs typeface="Times New Roman" panose="02020603050405020304" pitchFamily="18" charset="0"/>
            </a:endParaRPr>
          </a:p>
        </p:txBody>
      </p:sp>
      <p:sp>
        <p:nvSpPr>
          <p:cNvPr id="12" name="Shape 10"/>
          <p:cNvSpPr/>
          <p:nvPr/>
        </p:nvSpPr>
        <p:spPr>
          <a:xfrm>
            <a:off x="228600" y="1975104"/>
            <a:ext cx="4206240" cy="365760"/>
          </a:xfrm>
          <a:prstGeom prst="rect">
            <a:avLst/>
          </a:prstGeom>
          <a:solidFill>
            <a:srgbClr val="F0F4F8"/>
          </a:solidFill>
          <a:ln w="6350">
            <a:solidFill>
              <a:srgbClr val="E2E8F0"/>
            </a:solidFill>
            <a:prstDash val="solid"/>
          </a:ln>
        </p:spPr>
      </p:sp>
      <p:sp>
        <p:nvSpPr>
          <p:cNvPr id="13" name="Text 11"/>
          <p:cNvSpPr/>
          <p:nvPr/>
        </p:nvSpPr>
        <p:spPr>
          <a:xfrm>
            <a:off x="320040" y="1993392"/>
            <a:ext cx="4023360" cy="320040"/>
          </a:xfrm>
          <a:prstGeom prst="rect">
            <a:avLst/>
          </a:prstGeom>
          <a:noFill/>
          <a:ln/>
        </p:spPr>
        <p:txBody>
          <a:bodyPr wrap="square" rtlCol="0" anchor="ctr"/>
          <a:lstStyle/>
          <a:p>
            <a:pPr marL="0" indent="0">
              <a:buNone/>
            </a:pPr>
            <a:r>
              <a:rPr lang="en-US" sz="1200" dirty="0">
                <a:solidFill>
                  <a:srgbClr val="0D1B2A"/>
                </a:solidFill>
                <a:latin typeface="Times New Roman" panose="02020603050405020304" pitchFamily="18" charset="0"/>
                <a:ea typeface="Calibri" pitchFamily="34" charset="-122"/>
                <a:cs typeface="Times New Roman" panose="02020603050405020304" pitchFamily="18" charset="0"/>
              </a:rPr>
              <a:t>RAVDESS     86.7%         0.86</a:t>
            </a:r>
            <a:endParaRPr lang="en-US" sz="1200" dirty="0">
              <a:latin typeface="Times New Roman" panose="02020603050405020304" pitchFamily="18" charset="0"/>
              <a:cs typeface="Times New Roman" panose="02020603050405020304" pitchFamily="18" charset="0"/>
            </a:endParaRPr>
          </a:p>
        </p:txBody>
      </p:sp>
      <p:sp>
        <p:nvSpPr>
          <p:cNvPr id="14" name="Shape 12"/>
          <p:cNvSpPr/>
          <p:nvPr/>
        </p:nvSpPr>
        <p:spPr>
          <a:xfrm>
            <a:off x="228600" y="2340864"/>
            <a:ext cx="4206240" cy="365760"/>
          </a:xfrm>
          <a:prstGeom prst="rect">
            <a:avLst/>
          </a:prstGeom>
          <a:solidFill>
            <a:srgbClr val="FFFFFF"/>
          </a:solidFill>
          <a:ln w="6350">
            <a:solidFill>
              <a:srgbClr val="E2E8F0"/>
            </a:solidFill>
            <a:prstDash val="solid"/>
          </a:ln>
        </p:spPr>
      </p:sp>
      <p:sp>
        <p:nvSpPr>
          <p:cNvPr id="15" name="Text 13"/>
          <p:cNvSpPr/>
          <p:nvPr/>
        </p:nvSpPr>
        <p:spPr>
          <a:xfrm>
            <a:off x="320040" y="2359152"/>
            <a:ext cx="4023360" cy="320040"/>
          </a:xfrm>
          <a:prstGeom prst="rect">
            <a:avLst/>
          </a:prstGeom>
          <a:noFill/>
          <a:ln/>
        </p:spPr>
        <p:txBody>
          <a:bodyPr wrap="square" rtlCol="0" anchor="ctr"/>
          <a:lstStyle/>
          <a:p>
            <a:pPr marL="0" indent="0">
              <a:buNone/>
            </a:pPr>
            <a:r>
              <a:rPr lang="en-US" sz="1200" dirty="0">
                <a:solidFill>
                  <a:srgbClr val="0D1B2A"/>
                </a:solidFill>
                <a:latin typeface="Times New Roman" panose="02020603050405020304" pitchFamily="18" charset="0"/>
                <a:ea typeface="Calibri" pitchFamily="34" charset="-122"/>
                <a:cs typeface="Times New Roman" panose="02020603050405020304" pitchFamily="18" charset="0"/>
              </a:rPr>
              <a:t>AFEW           73.1%          0.70</a:t>
            </a:r>
            <a:endParaRPr lang="en-US" sz="1200" dirty="0">
              <a:latin typeface="Times New Roman" panose="02020603050405020304" pitchFamily="18" charset="0"/>
              <a:cs typeface="Times New Roman" panose="02020603050405020304" pitchFamily="18" charset="0"/>
            </a:endParaRPr>
          </a:p>
        </p:txBody>
      </p:sp>
      <p:sp>
        <p:nvSpPr>
          <p:cNvPr id="16" name="Text 14"/>
          <p:cNvSpPr/>
          <p:nvPr/>
        </p:nvSpPr>
        <p:spPr>
          <a:xfrm>
            <a:off x="4709160" y="914400"/>
            <a:ext cx="4206240" cy="320040"/>
          </a:xfrm>
          <a:prstGeom prst="rect">
            <a:avLst/>
          </a:prstGeom>
          <a:noFill/>
          <a:ln/>
        </p:spPr>
        <p:txBody>
          <a:bodyPr wrap="square" rtlCol="0" anchor="ctr"/>
          <a:lstStyle/>
          <a:p>
            <a:pPr marL="0" indent="0">
              <a:buNone/>
            </a:pPr>
            <a:r>
              <a:rPr lang="en-US" sz="1300" b="1" i="1" dirty="0">
                <a:latin typeface="Times New Roman" panose="02020603050405020304" pitchFamily="18" charset="0"/>
                <a:ea typeface="Calibri" pitchFamily="34" charset="-122"/>
                <a:cs typeface="Times New Roman" panose="02020603050405020304" pitchFamily="18" charset="0"/>
              </a:rPr>
              <a:t>Model Comparison</a:t>
            </a:r>
            <a:endParaRPr lang="en-US" sz="1300" i="1" dirty="0">
              <a:latin typeface="Times New Roman" panose="02020603050405020304" pitchFamily="18" charset="0"/>
              <a:cs typeface="Times New Roman" panose="02020603050405020304" pitchFamily="18" charset="0"/>
            </a:endParaRPr>
          </a:p>
        </p:txBody>
      </p:sp>
      <p:sp>
        <p:nvSpPr>
          <p:cNvPr id="17" name="Shape 15"/>
          <p:cNvSpPr/>
          <p:nvPr/>
        </p:nvSpPr>
        <p:spPr>
          <a:xfrm>
            <a:off x="4709160" y="1261872"/>
            <a:ext cx="4206240" cy="374904"/>
          </a:xfrm>
          <a:prstGeom prst="rect">
            <a:avLst/>
          </a:prstGeom>
          <a:solidFill>
            <a:srgbClr val="FFFFFF"/>
          </a:solidFill>
          <a:ln w="6350">
            <a:solidFill>
              <a:srgbClr val="E2E8F0"/>
            </a:solidFill>
            <a:prstDash val="solid"/>
          </a:ln>
        </p:spPr>
      </p:sp>
      <p:sp>
        <p:nvSpPr>
          <p:cNvPr id="18" name="Text 16"/>
          <p:cNvSpPr/>
          <p:nvPr/>
        </p:nvSpPr>
        <p:spPr>
          <a:xfrm>
            <a:off x="4800600" y="1307592"/>
            <a:ext cx="2651760" cy="274320"/>
          </a:xfrm>
          <a:prstGeom prst="rect">
            <a:avLst/>
          </a:prstGeom>
          <a:noFill/>
          <a:ln/>
        </p:spPr>
        <p:txBody>
          <a:bodyPr wrap="square" rtlCol="0" anchor="ctr"/>
          <a:lstStyle/>
          <a:p>
            <a:pPr marL="0" indent="0">
              <a:buNone/>
            </a:pPr>
            <a:r>
              <a:rPr lang="en-US" sz="1050" dirty="0">
                <a:solidFill>
                  <a:srgbClr val="0D1B2A"/>
                </a:solidFill>
                <a:latin typeface="Times New Roman" panose="02020603050405020304" pitchFamily="18" charset="0"/>
                <a:ea typeface="Calibri" pitchFamily="34" charset="-122"/>
                <a:cs typeface="Times New Roman" panose="02020603050405020304" pitchFamily="18" charset="0"/>
              </a:rPr>
              <a:t>Audio-Only</a:t>
            </a:r>
            <a:endParaRPr lang="en-US" sz="1050" dirty="0">
              <a:latin typeface="Times New Roman" panose="02020603050405020304" pitchFamily="18" charset="0"/>
              <a:cs typeface="Times New Roman" panose="02020603050405020304" pitchFamily="18" charset="0"/>
            </a:endParaRPr>
          </a:p>
        </p:txBody>
      </p:sp>
      <p:sp>
        <p:nvSpPr>
          <p:cNvPr id="19" name="Text 17"/>
          <p:cNvSpPr/>
          <p:nvPr/>
        </p:nvSpPr>
        <p:spPr>
          <a:xfrm>
            <a:off x="7498080" y="1307592"/>
            <a:ext cx="640080" cy="274320"/>
          </a:xfrm>
          <a:prstGeom prst="rect">
            <a:avLst/>
          </a:prstGeom>
          <a:noFill/>
          <a:ln/>
        </p:spPr>
        <p:txBody>
          <a:bodyPr wrap="square" rtlCol="0" anchor="ctr"/>
          <a:lstStyle/>
          <a:p>
            <a:pPr marL="0" indent="0" algn="ctr">
              <a:buNone/>
            </a:pPr>
            <a:r>
              <a:rPr lang="en-US" sz="1100" dirty="0">
                <a:solidFill>
                  <a:srgbClr val="0D1B2A"/>
                </a:solidFill>
              </a:rPr>
              <a:t>84.5%</a:t>
            </a:r>
            <a:endParaRPr lang="en-US" sz="1100" dirty="0"/>
          </a:p>
        </p:txBody>
      </p:sp>
      <p:sp>
        <p:nvSpPr>
          <p:cNvPr id="20" name="Text 18"/>
          <p:cNvSpPr/>
          <p:nvPr/>
        </p:nvSpPr>
        <p:spPr>
          <a:xfrm>
            <a:off x="8183880" y="1307592"/>
            <a:ext cx="594360" cy="274320"/>
          </a:xfrm>
          <a:prstGeom prst="rect">
            <a:avLst/>
          </a:prstGeom>
          <a:noFill/>
          <a:ln/>
        </p:spPr>
        <p:txBody>
          <a:bodyPr wrap="square" rtlCol="0" anchor="ctr"/>
          <a:lstStyle/>
          <a:p>
            <a:pPr marL="0" indent="0" algn="ctr">
              <a:buNone/>
            </a:pPr>
            <a:r>
              <a:rPr lang="en-US" sz="1100" dirty="0">
                <a:solidFill>
                  <a:srgbClr val="0D1B2A"/>
                </a:solidFill>
              </a:rPr>
              <a:t>0.83</a:t>
            </a:r>
            <a:endParaRPr lang="en-US" sz="1100" dirty="0"/>
          </a:p>
        </p:txBody>
      </p:sp>
      <p:sp>
        <p:nvSpPr>
          <p:cNvPr id="21" name="Shape 19"/>
          <p:cNvSpPr/>
          <p:nvPr/>
        </p:nvSpPr>
        <p:spPr>
          <a:xfrm>
            <a:off x="4709160" y="1655064"/>
            <a:ext cx="4206240" cy="374904"/>
          </a:xfrm>
          <a:prstGeom prst="rect">
            <a:avLst/>
          </a:prstGeom>
          <a:solidFill>
            <a:srgbClr val="F0F4F8"/>
          </a:solidFill>
          <a:ln w="6350">
            <a:solidFill>
              <a:srgbClr val="E2E8F0"/>
            </a:solidFill>
            <a:prstDash val="solid"/>
          </a:ln>
        </p:spPr>
      </p:sp>
      <p:sp>
        <p:nvSpPr>
          <p:cNvPr id="22" name="Text 20"/>
          <p:cNvSpPr/>
          <p:nvPr/>
        </p:nvSpPr>
        <p:spPr>
          <a:xfrm>
            <a:off x="4800600" y="1700784"/>
            <a:ext cx="2651760" cy="274320"/>
          </a:xfrm>
          <a:prstGeom prst="rect">
            <a:avLst/>
          </a:prstGeom>
          <a:noFill/>
          <a:ln/>
        </p:spPr>
        <p:txBody>
          <a:bodyPr wrap="square" rtlCol="0" anchor="ctr"/>
          <a:lstStyle/>
          <a:p>
            <a:pPr marL="0" indent="0">
              <a:buNone/>
            </a:pPr>
            <a:r>
              <a:rPr lang="en-US" sz="1050" dirty="0">
                <a:solidFill>
                  <a:srgbClr val="0D1B2A"/>
                </a:solidFill>
                <a:latin typeface="Times New Roman" panose="02020603050405020304" pitchFamily="18" charset="0"/>
                <a:ea typeface="Calibri" pitchFamily="34" charset="-122"/>
                <a:cs typeface="Times New Roman" panose="02020603050405020304" pitchFamily="18" charset="0"/>
              </a:rPr>
              <a:t>Visual – Static</a:t>
            </a:r>
            <a:endParaRPr lang="en-US" sz="1050" dirty="0">
              <a:latin typeface="Times New Roman" panose="02020603050405020304" pitchFamily="18" charset="0"/>
              <a:cs typeface="Times New Roman" panose="02020603050405020304" pitchFamily="18" charset="0"/>
            </a:endParaRPr>
          </a:p>
        </p:txBody>
      </p:sp>
      <p:sp>
        <p:nvSpPr>
          <p:cNvPr id="23" name="Text 21"/>
          <p:cNvSpPr/>
          <p:nvPr/>
        </p:nvSpPr>
        <p:spPr>
          <a:xfrm>
            <a:off x="7498080" y="1700784"/>
            <a:ext cx="640080" cy="274320"/>
          </a:xfrm>
          <a:prstGeom prst="rect">
            <a:avLst/>
          </a:prstGeom>
          <a:noFill/>
          <a:ln/>
        </p:spPr>
        <p:txBody>
          <a:bodyPr wrap="square" rtlCol="0" anchor="ctr"/>
          <a:lstStyle/>
          <a:p>
            <a:pPr marL="0" indent="0" algn="ctr">
              <a:buNone/>
            </a:pPr>
            <a:r>
              <a:rPr lang="en-US" sz="1100" dirty="0">
                <a:solidFill>
                  <a:srgbClr val="0D1B2A"/>
                </a:solidFill>
              </a:rPr>
              <a:t>83.2%</a:t>
            </a:r>
            <a:endParaRPr lang="en-US" sz="1100" dirty="0"/>
          </a:p>
        </p:txBody>
      </p:sp>
      <p:sp>
        <p:nvSpPr>
          <p:cNvPr id="24" name="Text 22"/>
          <p:cNvSpPr/>
          <p:nvPr/>
        </p:nvSpPr>
        <p:spPr>
          <a:xfrm>
            <a:off x="8183880" y="1700784"/>
            <a:ext cx="594360" cy="274320"/>
          </a:xfrm>
          <a:prstGeom prst="rect">
            <a:avLst/>
          </a:prstGeom>
          <a:noFill/>
          <a:ln/>
        </p:spPr>
        <p:txBody>
          <a:bodyPr wrap="square" rtlCol="0" anchor="ctr"/>
          <a:lstStyle/>
          <a:p>
            <a:pPr marL="0" indent="0" algn="ctr">
              <a:buNone/>
            </a:pPr>
            <a:r>
              <a:rPr lang="en-US" sz="1100" dirty="0">
                <a:solidFill>
                  <a:srgbClr val="0D1B2A"/>
                </a:solidFill>
              </a:rPr>
              <a:t>0.82</a:t>
            </a:r>
            <a:endParaRPr lang="en-US" sz="1100" dirty="0"/>
          </a:p>
        </p:txBody>
      </p:sp>
      <p:sp>
        <p:nvSpPr>
          <p:cNvPr id="25" name="Shape 23"/>
          <p:cNvSpPr/>
          <p:nvPr/>
        </p:nvSpPr>
        <p:spPr>
          <a:xfrm>
            <a:off x="4709160" y="2048256"/>
            <a:ext cx="4206240" cy="374904"/>
          </a:xfrm>
          <a:prstGeom prst="rect">
            <a:avLst/>
          </a:prstGeom>
          <a:solidFill>
            <a:srgbClr val="FFFFFF"/>
          </a:solidFill>
          <a:ln w="6350">
            <a:solidFill>
              <a:srgbClr val="E2E8F0"/>
            </a:solidFill>
            <a:prstDash val="solid"/>
          </a:ln>
        </p:spPr>
      </p:sp>
      <p:sp>
        <p:nvSpPr>
          <p:cNvPr id="26" name="Text 24"/>
          <p:cNvSpPr/>
          <p:nvPr/>
        </p:nvSpPr>
        <p:spPr>
          <a:xfrm>
            <a:off x="4800600" y="2093976"/>
            <a:ext cx="2651760" cy="274320"/>
          </a:xfrm>
          <a:prstGeom prst="rect">
            <a:avLst/>
          </a:prstGeom>
          <a:noFill/>
          <a:ln/>
        </p:spPr>
        <p:txBody>
          <a:bodyPr wrap="square" rtlCol="0" anchor="ctr"/>
          <a:lstStyle/>
          <a:p>
            <a:pPr marL="0" indent="0">
              <a:buNone/>
            </a:pPr>
            <a:r>
              <a:rPr lang="en-US" sz="1050" dirty="0">
                <a:solidFill>
                  <a:srgbClr val="0D1B2A"/>
                </a:solidFill>
                <a:latin typeface="Times New Roman" panose="02020603050405020304" pitchFamily="18" charset="0"/>
                <a:ea typeface="Calibri" pitchFamily="34" charset="-122"/>
                <a:cs typeface="Times New Roman" panose="02020603050405020304" pitchFamily="18" charset="0"/>
              </a:rPr>
              <a:t>Audio-Visual – Static</a:t>
            </a:r>
            <a:endParaRPr lang="en-US" sz="1050" dirty="0">
              <a:latin typeface="Times New Roman" panose="02020603050405020304" pitchFamily="18" charset="0"/>
              <a:cs typeface="Times New Roman" panose="02020603050405020304" pitchFamily="18" charset="0"/>
            </a:endParaRPr>
          </a:p>
        </p:txBody>
      </p:sp>
      <p:sp>
        <p:nvSpPr>
          <p:cNvPr id="27" name="Text 25"/>
          <p:cNvSpPr/>
          <p:nvPr/>
        </p:nvSpPr>
        <p:spPr>
          <a:xfrm>
            <a:off x="7498080" y="2093976"/>
            <a:ext cx="640080" cy="274320"/>
          </a:xfrm>
          <a:prstGeom prst="rect">
            <a:avLst/>
          </a:prstGeom>
          <a:noFill/>
          <a:ln/>
        </p:spPr>
        <p:txBody>
          <a:bodyPr wrap="square" rtlCol="0" anchor="ctr"/>
          <a:lstStyle/>
          <a:p>
            <a:pPr marL="0" indent="0" algn="ctr">
              <a:buNone/>
            </a:pPr>
            <a:r>
              <a:rPr lang="en-US" sz="1100" dirty="0">
                <a:solidFill>
                  <a:srgbClr val="0D1B2A"/>
                </a:solidFill>
              </a:rPr>
              <a:t>86.0%</a:t>
            </a:r>
            <a:endParaRPr lang="en-US" sz="1100" dirty="0"/>
          </a:p>
        </p:txBody>
      </p:sp>
      <p:sp>
        <p:nvSpPr>
          <p:cNvPr id="28" name="Text 26"/>
          <p:cNvSpPr/>
          <p:nvPr/>
        </p:nvSpPr>
        <p:spPr>
          <a:xfrm>
            <a:off x="8183880" y="2093976"/>
            <a:ext cx="594360" cy="274320"/>
          </a:xfrm>
          <a:prstGeom prst="rect">
            <a:avLst/>
          </a:prstGeom>
          <a:noFill/>
          <a:ln/>
        </p:spPr>
        <p:txBody>
          <a:bodyPr wrap="square" rtlCol="0" anchor="ctr"/>
          <a:lstStyle/>
          <a:p>
            <a:pPr marL="0" indent="0" algn="ctr">
              <a:buNone/>
            </a:pPr>
            <a:r>
              <a:rPr lang="en-US" sz="1100" dirty="0">
                <a:solidFill>
                  <a:srgbClr val="0D1B2A"/>
                </a:solidFill>
              </a:rPr>
              <a:t>0.85</a:t>
            </a:r>
            <a:endParaRPr lang="en-US" sz="1100" dirty="0"/>
          </a:p>
        </p:txBody>
      </p:sp>
      <p:sp>
        <p:nvSpPr>
          <p:cNvPr id="29" name="Shape 27"/>
          <p:cNvSpPr/>
          <p:nvPr/>
        </p:nvSpPr>
        <p:spPr>
          <a:xfrm>
            <a:off x="4709160" y="2441448"/>
            <a:ext cx="4206240" cy="374904"/>
          </a:xfrm>
          <a:prstGeom prst="rect">
            <a:avLst/>
          </a:prstGeom>
          <a:solidFill>
            <a:schemeClr val="tx1"/>
          </a:solidFill>
          <a:ln w="6350">
            <a:solidFill>
              <a:srgbClr val="E2E8F0"/>
            </a:solidFill>
            <a:prstDash val="solid"/>
          </a:ln>
        </p:spPr>
      </p:sp>
      <p:sp>
        <p:nvSpPr>
          <p:cNvPr id="30" name="Text 28"/>
          <p:cNvSpPr/>
          <p:nvPr/>
        </p:nvSpPr>
        <p:spPr>
          <a:xfrm>
            <a:off x="4800600" y="2487168"/>
            <a:ext cx="2651760" cy="274320"/>
          </a:xfrm>
          <a:prstGeom prst="rect">
            <a:avLst/>
          </a:prstGeom>
          <a:noFill/>
          <a:ln/>
        </p:spPr>
        <p:txBody>
          <a:bodyPr wrap="square" rtlCol="0" anchor="ctr"/>
          <a:lstStyle/>
          <a:p>
            <a:pPr marL="0" indent="0">
              <a:buNone/>
            </a:pPr>
            <a:r>
              <a:rPr lang="en-US" sz="1050" b="1" dirty="0">
                <a:solidFill>
                  <a:srgbClr val="FFFFFF"/>
                </a:solidFill>
                <a:latin typeface="Times New Roman" panose="02020603050405020304" pitchFamily="18" charset="0"/>
                <a:ea typeface="Calibri" pitchFamily="34" charset="-122"/>
                <a:cs typeface="Times New Roman" panose="02020603050405020304" pitchFamily="18" charset="0"/>
              </a:rPr>
              <a:t>Audio-Visual – Temporal (Proposed)</a:t>
            </a:r>
            <a:endParaRPr lang="en-US" sz="1050" dirty="0">
              <a:latin typeface="Times New Roman" panose="02020603050405020304" pitchFamily="18" charset="0"/>
              <a:cs typeface="Times New Roman" panose="02020603050405020304" pitchFamily="18" charset="0"/>
            </a:endParaRPr>
          </a:p>
        </p:txBody>
      </p:sp>
      <p:sp>
        <p:nvSpPr>
          <p:cNvPr id="31" name="Text 29"/>
          <p:cNvSpPr/>
          <p:nvPr/>
        </p:nvSpPr>
        <p:spPr>
          <a:xfrm>
            <a:off x="7498080" y="2487168"/>
            <a:ext cx="640080" cy="274320"/>
          </a:xfrm>
          <a:prstGeom prst="rect">
            <a:avLst/>
          </a:prstGeom>
          <a:noFill/>
          <a:ln/>
        </p:spPr>
        <p:txBody>
          <a:bodyPr wrap="square" rtlCol="0" anchor="ctr"/>
          <a:lstStyle/>
          <a:p>
            <a:pPr marL="0" indent="0" algn="ctr">
              <a:buNone/>
            </a:pPr>
            <a:r>
              <a:rPr lang="en-US" sz="1100" b="1" dirty="0">
                <a:solidFill>
                  <a:srgbClr val="FFFFFF"/>
                </a:solidFill>
              </a:rPr>
              <a:t>87.3%</a:t>
            </a:r>
            <a:endParaRPr lang="en-US" sz="1100" dirty="0"/>
          </a:p>
        </p:txBody>
      </p:sp>
      <p:sp>
        <p:nvSpPr>
          <p:cNvPr id="32" name="Text 30"/>
          <p:cNvSpPr/>
          <p:nvPr/>
        </p:nvSpPr>
        <p:spPr>
          <a:xfrm>
            <a:off x="8183880" y="2487168"/>
            <a:ext cx="594360" cy="274320"/>
          </a:xfrm>
          <a:prstGeom prst="rect">
            <a:avLst/>
          </a:prstGeom>
          <a:noFill/>
          <a:ln/>
        </p:spPr>
        <p:txBody>
          <a:bodyPr wrap="square" rtlCol="0" anchor="ctr"/>
          <a:lstStyle/>
          <a:p>
            <a:pPr marL="0" indent="0" algn="ctr">
              <a:buNone/>
            </a:pPr>
            <a:r>
              <a:rPr lang="en-US" sz="1100" b="1" dirty="0">
                <a:solidFill>
                  <a:srgbClr val="FFFFFF"/>
                </a:solidFill>
              </a:rPr>
              <a:t>0.86</a:t>
            </a:r>
            <a:endParaRPr lang="en-US" sz="1100" dirty="0"/>
          </a:p>
        </p:txBody>
      </p:sp>
      <p:sp>
        <p:nvSpPr>
          <p:cNvPr id="33" name="Text 31"/>
          <p:cNvSpPr/>
          <p:nvPr/>
        </p:nvSpPr>
        <p:spPr>
          <a:xfrm>
            <a:off x="228600" y="2926080"/>
            <a:ext cx="8686800" cy="320040"/>
          </a:xfrm>
          <a:prstGeom prst="rect">
            <a:avLst/>
          </a:prstGeom>
          <a:noFill/>
          <a:ln/>
        </p:spPr>
        <p:txBody>
          <a:bodyPr wrap="square" rtlCol="0" anchor="ctr"/>
          <a:lstStyle/>
          <a:p>
            <a:pPr marL="0" indent="0">
              <a:buNone/>
            </a:pPr>
            <a:r>
              <a:rPr lang="en-US" sz="1300" b="1" i="1" dirty="0">
                <a:latin typeface="Times New Roman" panose="02020603050405020304" pitchFamily="18" charset="0"/>
                <a:ea typeface="Calibri" pitchFamily="34" charset="-122"/>
                <a:cs typeface="Times New Roman" panose="02020603050405020304" pitchFamily="18" charset="0"/>
              </a:rPr>
              <a:t>Cross-Dataset Evaluation</a:t>
            </a:r>
            <a:endParaRPr lang="en-US" sz="1300" i="1" dirty="0">
              <a:latin typeface="Times New Roman" panose="02020603050405020304" pitchFamily="18" charset="0"/>
              <a:cs typeface="Times New Roman" panose="02020603050405020304" pitchFamily="18" charset="0"/>
            </a:endParaRPr>
          </a:p>
        </p:txBody>
      </p:sp>
      <p:sp>
        <p:nvSpPr>
          <p:cNvPr id="34" name="Shape 32"/>
          <p:cNvSpPr/>
          <p:nvPr/>
        </p:nvSpPr>
        <p:spPr>
          <a:xfrm>
            <a:off x="228600" y="3291840"/>
            <a:ext cx="2743200" cy="1234440"/>
          </a:xfrm>
          <a:prstGeom prst="rect">
            <a:avLst/>
          </a:prstGeom>
          <a:solidFill>
            <a:srgbClr val="FFFFFF"/>
          </a:solidFill>
          <a:ln w="6350">
            <a:solidFill>
              <a:srgbClr val="E2E8F0"/>
            </a:solidFill>
            <a:prstDash val="solid"/>
          </a:ln>
          <a:effectLst>
            <a:outerShdw blurRad="76200" dist="25400" dir="8100000" algn="bl" rotWithShape="0">
              <a:srgbClr val="000000">
                <a:alpha val="10000"/>
              </a:srgbClr>
            </a:outerShdw>
          </a:effectLst>
        </p:spPr>
      </p:sp>
      <p:sp>
        <p:nvSpPr>
          <p:cNvPr id="36" name="Text 34"/>
          <p:cNvSpPr/>
          <p:nvPr/>
        </p:nvSpPr>
        <p:spPr>
          <a:xfrm>
            <a:off x="320040" y="3364992"/>
            <a:ext cx="2560320" cy="32004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Train: CREMA-D  =&gt;  Test: </a:t>
            </a:r>
            <a:r>
              <a:rPr lang="en-US" sz="1200" b="1" dirty="0">
                <a:solidFill>
                  <a:srgbClr val="0D1B2A"/>
                </a:solidFill>
                <a:latin typeface="Times New Roman" panose="02020603050405020304" pitchFamily="18" charset="0"/>
                <a:ea typeface="Calibri" pitchFamily="34" charset="-122"/>
                <a:cs typeface="Times New Roman" panose="02020603050405020304" pitchFamily="18" charset="0"/>
              </a:rPr>
              <a:t>RAVDESS</a:t>
            </a:r>
            <a:endParaRPr lang="en-US" sz="1200" dirty="0">
              <a:latin typeface="Times New Roman" panose="02020603050405020304" pitchFamily="18" charset="0"/>
              <a:cs typeface="Times New Roman" panose="02020603050405020304" pitchFamily="18" charset="0"/>
            </a:endParaRPr>
          </a:p>
        </p:txBody>
      </p:sp>
      <p:sp>
        <p:nvSpPr>
          <p:cNvPr id="37" name="Text 35"/>
          <p:cNvSpPr/>
          <p:nvPr/>
        </p:nvSpPr>
        <p:spPr>
          <a:xfrm>
            <a:off x="274320" y="3730752"/>
            <a:ext cx="2743200" cy="292608"/>
          </a:xfrm>
          <a:prstGeom prst="rect">
            <a:avLst/>
          </a:prstGeom>
          <a:noFill/>
          <a:ln/>
        </p:spPr>
        <p:txBody>
          <a:bodyPr wrap="square" rtlCol="0" anchor="ctr"/>
          <a:lstStyle/>
          <a:p>
            <a:pPr marL="0" indent="0">
              <a:buNone/>
            </a:pPr>
            <a:r>
              <a:rPr lang="en-US" sz="1400" dirty="0">
                <a:latin typeface="Times New Roman" panose="02020603050405020304" pitchFamily="18" charset="0"/>
                <a:ea typeface="Calibri" pitchFamily="34" charset="-122"/>
                <a:cs typeface="Times New Roman" panose="02020603050405020304" pitchFamily="18" charset="0"/>
              </a:rPr>
              <a:t>Accuracy: 85.0%    F1-Score: 0.84</a:t>
            </a:r>
            <a:endParaRPr lang="en-US" sz="1400" dirty="0">
              <a:latin typeface="Times New Roman" panose="02020603050405020304" pitchFamily="18" charset="0"/>
              <a:cs typeface="Times New Roman" panose="02020603050405020304" pitchFamily="18" charset="0"/>
            </a:endParaRPr>
          </a:p>
        </p:txBody>
      </p:sp>
      <p:sp>
        <p:nvSpPr>
          <p:cNvPr id="38" name="Shape 36"/>
          <p:cNvSpPr/>
          <p:nvPr/>
        </p:nvSpPr>
        <p:spPr>
          <a:xfrm>
            <a:off x="3172968" y="3291840"/>
            <a:ext cx="2743200" cy="1234440"/>
          </a:xfrm>
          <a:prstGeom prst="rect">
            <a:avLst/>
          </a:prstGeom>
          <a:solidFill>
            <a:srgbClr val="FFFFFF"/>
          </a:solidFill>
          <a:ln w="6350">
            <a:solidFill>
              <a:srgbClr val="E2E8F0"/>
            </a:solidFill>
            <a:prstDash val="solid"/>
          </a:ln>
          <a:effectLst>
            <a:outerShdw blurRad="76200" dist="25400" dir="8100000" algn="bl" rotWithShape="0">
              <a:srgbClr val="000000">
                <a:alpha val="10000"/>
              </a:srgbClr>
            </a:outerShdw>
          </a:effectLst>
        </p:spPr>
      </p:sp>
      <p:sp>
        <p:nvSpPr>
          <p:cNvPr id="40" name="Text 38"/>
          <p:cNvSpPr/>
          <p:nvPr/>
        </p:nvSpPr>
        <p:spPr>
          <a:xfrm>
            <a:off x="3264408" y="3364992"/>
            <a:ext cx="2560320" cy="320040"/>
          </a:xfrm>
          <a:prstGeom prst="rect">
            <a:avLst/>
          </a:prstGeom>
          <a:noFill/>
          <a:ln/>
        </p:spPr>
        <p:txBody>
          <a:bodyPr wrap="square" rtlCol="0" anchor="ctr"/>
          <a:lstStyle/>
          <a:p>
            <a:pPr marL="0" indent="0">
              <a:buNone/>
            </a:pPr>
            <a:r>
              <a:rPr lang="en-US" sz="1200" b="1" dirty="0">
                <a:solidFill>
                  <a:srgbClr val="0D1B2A"/>
                </a:solidFill>
                <a:latin typeface="Times New Roman" panose="02020603050405020304" pitchFamily="18" charset="0"/>
                <a:ea typeface="Calibri" pitchFamily="34" charset="-122"/>
                <a:cs typeface="Times New Roman" panose="02020603050405020304" pitchFamily="18" charset="0"/>
              </a:rPr>
              <a:t>Train: CREMA-D  =&gt;  Test: AFEW</a:t>
            </a:r>
            <a:endParaRPr lang="en-US" sz="1200" dirty="0">
              <a:latin typeface="Times New Roman" panose="02020603050405020304" pitchFamily="18" charset="0"/>
              <a:cs typeface="Times New Roman" panose="02020603050405020304" pitchFamily="18" charset="0"/>
            </a:endParaRPr>
          </a:p>
        </p:txBody>
      </p:sp>
      <p:sp>
        <p:nvSpPr>
          <p:cNvPr id="41" name="Text 39"/>
          <p:cNvSpPr/>
          <p:nvPr/>
        </p:nvSpPr>
        <p:spPr>
          <a:xfrm>
            <a:off x="3218688" y="3689604"/>
            <a:ext cx="2651760" cy="374904"/>
          </a:xfrm>
          <a:prstGeom prst="rect">
            <a:avLst/>
          </a:prstGeom>
          <a:noFill/>
          <a:ln/>
        </p:spPr>
        <p:txBody>
          <a:bodyPr wrap="square" rtlCol="0" anchor="ctr"/>
          <a:lstStyle/>
          <a:p>
            <a:pPr marL="0" indent="0">
              <a:buNone/>
            </a:pPr>
            <a:r>
              <a:rPr lang="en-US" sz="1400" dirty="0">
                <a:latin typeface="Times New Roman" panose="02020603050405020304" pitchFamily="18" charset="0"/>
                <a:ea typeface="Calibri" pitchFamily="34" charset="-122"/>
                <a:cs typeface="Times New Roman" panose="02020603050405020304" pitchFamily="18" charset="0"/>
              </a:rPr>
              <a:t>Accuracy: 71.4%    F1-Score: 0.69</a:t>
            </a:r>
            <a:endParaRPr lang="en-US" sz="1400" dirty="0">
              <a:latin typeface="Times New Roman" panose="02020603050405020304" pitchFamily="18" charset="0"/>
              <a:cs typeface="Times New Roman" panose="02020603050405020304" pitchFamily="18" charset="0"/>
            </a:endParaRPr>
          </a:p>
        </p:txBody>
      </p:sp>
      <p:sp>
        <p:nvSpPr>
          <p:cNvPr id="42" name="Shape 40"/>
          <p:cNvSpPr/>
          <p:nvPr/>
        </p:nvSpPr>
        <p:spPr>
          <a:xfrm>
            <a:off x="6117336" y="3291840"/>
            <a:ext cx="2743200" cy="1234440"/>
          </a:xfrm>
          <a:prstGeom prst="rect">
            <a:avLst/>
          </a:prstGeom>
          <a:solidFill>
            <a:srgbClr val="FFFFFF"/>
          </a:solidFill>
          <a:ln w="6350">
            <a:solidFill>
              <a:srgbClr val="E2E8F0"/>
            </a:solidFill>
            <a:prstDash val="solid"/>
          </a:ln>
          <a:effectLst>
            <a:outerShdw blurRad="76200" dist="25400" dir="8100000" algn="bl" rotWithShape="0">
              <a:srgbClr val="000000">
                <a:alpha val="10000"/>
              </a:srgbClr>
            </a:outerShdw>
          </a:effectLst>
        </p:spPr>
      </p:sp>
      <p:sp>
        <p:nvSpPr>
          <p:cNvPr id="44" name="Text 42"/>
          <p:cNvSpPr/>
          <p:nvPr/>
        </p:nvSpPr>
        <p:spPr>
          <a:xfrm>
            <a:off x="6126480" y="3364992"/>
            <a:ext cx="2816352" cy="320040"/>
          </a:xfrm>
          <a:prstGeom prst="rect">
            <a:avLst/>
          </a:prstGeom>
          <a:noFill/>
          <a:ln/>
        </p:spPr>
        <p:txBody>
          <a:bodyPr wrap="square" rtlCol="0" anchor="ctr"/>
          <a:lstStyle/>
          <a:p>
            <a:pPr marL="0" indent="0">
              <a:buNone/>
            </a:pPr>
            <a:r>
              <a:rPr lang="en-US" sz="1200" b="1" dirty="0">
                <a:latin typeface="Times New Roman" panose="02020603050405020304" pitchFamily="18" charset="0"/>
                <a:ea typeface="Calibri" pitchFamily="34" charset="-122"/>
                <a:cs typeface="Times New Roman" panose="02020603050405020304" pitchFamily="18" charset="0"/>
              </a:rPr>
              <a:t>Train: RAVDESS  =&gt;  Test: CREMA-D</a:t>
            </a:r>
            <a:endParaRPr lang="en-US" sz="1200" dirty="0">
              <a:latin typeface="Times New Roman" panose="02020603050405020304" pitchFamily="18" charset="0"/>
              <a:cs typeface="Times New Roman" panose="02020603050405020304" pitchFamily="18" charset="0"/>
            </a:endParaRPr>
          </a:p>
        </p:txBody>
      </p:sp>
      <p:sp>
        <p:nvSpPr>
          <p:cNvPr id="45" name="Text 43"/>
          <p:cNvSpPr/>
          <p:nvPr/>
        </p:nvSpPr>
        <p:spPr>
          <a:xfrm>
            <a:off x="6172200" y="3730752"/>
            <a:ext cx="2651760" cy="320040"/>
          </a:xfrm>
          <a:prstGeom prst="rect">
            <a:avLst/>
          </a:prstGeom>
          <a:noFill/>
          <a:ln/>
        </p:spPr>
        <p:txBody>
          <a:bodyPr wrap="square" rtlCol="0" anchor="ctr"/>
          <a:lstStyle/>
          <a:p>
            <a:pPr marL="0" indent="0">
              <a:buNone/>
            </a:pPr>
            <a:r>
              <a:rPr lang="en-US" sz="1400" dirty="0">
                <a:latin typeface="Times New Roman" panose="02020603050405020304" pitchFamily="18" charset="0"/>
                <a:ea typeface="Calibri" pitchFamily="34" charset="-122"/>
                <a:cs typeface="Times New Roman" panose="02020603050405020304" pitchFamily="18" charset="0"/>
              </a:rPr>
              <a:t>Accuracy: 83.8%    F1-Score: 0.83</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12B21-47C7-8765-28EC-1D34A4467B27}"/>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B2F686B5-F07B-3F1E-327F-89341940E10C}"/>
              </a:ext>
            </a:extLst>
          </p:cNvPr>
          <p:cNvSpPr/>
          <p:nvPr/>
        </p:nvSpPr>
        <p:spPr>
          <a:xfrm>
            <a:off x="274320" y="68580"/>
            <a:ext cx="7772400" cy="685800"/>
          </a:xfrm>
          <a:prstGeom prst="rect">
            <a:avLst/>
          </a:prstGeom>
          <a:noFill/>
          <a:ln/>
        </p:spPr>
        <p:txBody>
          <a:bodyPr wrap="square" lIns="0" tIns="0" rIns="0" bIns="0" rtlCol="0" anchor="ctr"/>
          <a:lstStyle/>
          <a:p>
            <a:pPr marL="0" indent="0">
              <a:buNone/>
            </a:pPr>
            <a:r>
              <a:rPr lang="en-US" sz="2200" b="1" dirty="0">
                <a:latin typeface="Times New Roman" panose="02020603050405020304" pitchFamily="18" charset="0"/>
                <a:ea typeface="Calibri" pitchFamily="34" charset="-122"/>
                <a:cs typeface="Times New Roman" panose="02020603050405020304" pitchFamily="18" charset="0"/>
              </a:rPr>
              <a:t>CODING</a:t>
            </a:r>
            <a:endParaRPr lang="en-US" sz="2200" dirty="0">
              <a:latin typeface="Times New Roman" panose="02020603050405020304" pitchFamily="18" charset="0"/>
              <a:cs typeface="Times New Roman" panose="02020603050405020304" pitchFamily="18" charset="0"/>
            </a:endParaRPr>
          </a:p>
        </p:txBody>
      </p:sp>
      <p:sp>
        <p:nvSpPr>
          <p:cNvPr id="6" name="Text 4">
            <a:extLst>
              <a:ext uri="{FF2B5EF4-FFF2-40B4-BE49-F238E27FC236}">
                <a16:creationId xmlns:a16="http://schemas.microsoft.com/office/drawing/2014/main" id="{64C4FD45-B60D-0654-4D14-EE5F6CF59996}"/>
              </a:ext>
            </a:extLst>
          </p:cNvPr>
          <p:cNvSpPr/>
          <p:nvPr/>
        </p:nvSpPr>
        <p:spPr>
          <a:xfrm>
            <a:off x="7772400" y="91440"/>
            <a:ext cx="1188720" cy="320040"/>
          </a:xfrm>
          <a:prstGeom prst="rect">
            <a:avLst/>
          </a:prstGeom>
          <a:noFill/>
          <a:ln/>
        </p:spPr>
        <p:txBody>
          <a:bodyPr wrap="square" lIns="0" tIns="0" rIns="0" bIns="0" rtlCol="0" anchor="ctr"/>
          <a:lstStyle/>
          <a:p>
            <a:pPr marL="0" indent="0" algn="ctr">
              <a:buNone/>
            </a:pPr>
            <a:endParaRPr lang="en-US" sz="1400" dirty="0"/>
          </a:p>
        </p:txBody>
      </p:sp>
      <p:sp>
        <p:nvSpPr>
          <p:cNvPr id="7" name="TextBox 6">
            <a:extLst>
              <a:ext uri="{FF2B5EF4-FFF2-40B4-BE49-F238E27FC236}">
                <a16:creationId xmlns:a16="http://schemas.microsoft.com/office/drawing/2014/main" id="{CFA9767E-A4D6-93C5-5615-F7FFC0254044}"/>
              </a:ext>
            </a:extLst>
          </p:cNvPr>
          <p:cNvSpPr txBox="1"/>
          <p:nvPr/>
        </p:nvSpPr>
        <p:spPr>
          <a:xfrm>
            <a:off x="476979" y="903569"/>
            <a:ext cx="7837027" cy="2970044"/>
          </a:xfrm>
          <a:prstGeom prst="rect">
            <a:avLst/>
          </a:prstGeom>
          <a:noFill/>
        </p:spPr>
        <p:txBody>
          <a:bodyPr wrap="square" rtlCol="0">
            <a:spAutoFit/>
          </a:bodyPr>
          <a:lstStyle/>
          <a:p>
            <a:pPr algn="just"/>
            <a:r>
              <a:rPr lang="en-US" sz="1700" dirty="0">
                <a:latin typeface="Times New Roman" panose="02020603050405020304" pitchFamily="18" charset="0"/>
                <a:cs typeface="Times New Roman" panose="02020603050405020304" pitchFamily="18" charset="0"/>
              </a:rPr>
              <a:t>         The complete source code for the </a:t>
            </a:r>
            <a:r>
              <a:rPr lang="en-US" sz="1700" dirty="0" err="1">
                <a:latin typeface="Times New Roman" panose="02020603050405020304" pitchFamily="18" charset="0"/>
                <a:cs typeface="Times New Roman" panose="02020603050405020304" pitchFamily="18" charset="0"/>
              </a:rPr>
              <a:t>wavDINO</a:t>
            </a:r>
            <a:r>
              <a:rPr lang="en-US" sz="1700" dirty="0">
                <a:latin typeface="Times New Roman" panose="02020603050405020304" pitchFamily="18" charset="0"/>
                <a:cs typeface="Times New Roman" panose="02020603050405020304" pitchFamily="18" charset="0"/>
              </a:rPr>
              <a:t>-Emotion framework and the Temporal Facial Dynamics-driven Audio-Visual Emotion Recognition framework, including all pre-processing pipelines, model architectures, training scripts and evaluation utilities, is available in the following GitHub repositories:</a:t>
            </a:r>
          </a:p>
          <a:p>
            <a:pPr algn="just"/>
            <a:endParaRPr lang="en-US" sz="1700" b="1" dirty="0">
              <a:latin typeface="Times New Roman" panose="02020603050405020304" pitchFamily="18" charset="0"/>
              <a:cs typeface="Times New Roman" panose="02020603050405020304" pitchFamily="18" charset="0"/>
            </a:endParaRPr>
          </a:p>
          <a:p>
            <a:r>
              <a:rPr lang="en-US" sz="1700" b="1" i="1" dirty="0" err="1">
                <a:latin typeface="Times New Roman" panose="02020603050405020304" pitchFamily="18" charset="0"/>
                <a:cs typeface="Times New Roman" panose="02020603050405020304" pitchFamily="18" charset="0"/>
              </a:rPr>
              <a:t>wavDINO</a:t>
            </a:r>
            <a:r>
              <a:rPr lang="en-US" sz="1700" b="1" i="1" dirty="0">
                <a:latin typeface="Times New Roman" panose="02020603050405020304" pitchFamily="18" charset="0"/>
                <a:cs typeface="Times New Roman" panose="02020603050405020304" pitchFamily="18" charset="0"/>
              </a:rPr>
              <a:t>-Emotion Framework:</a:t>
            </a:r>
          </a:p>
          <a:p>
            <a:r>
              <a:rPr lang="en-US" sz="1700" u="sng" dirty="0">
                <a:solidFill>
                  <a:schemeClr val="accent1"/>
                </a:solidFill>
                <a:latin typeface="Times New Roman" panose="02020603050405020304" pitchFamily="18" charset="0"/>
                <a:cs typeface="Times New Roman" panose="02020603050405020304" pitchFamily="18" charset="0"/>
                <a:hlinkClick r:id="rId3"/>
              </a:rPr>
              <a:t>https://github.com/hariprasad2005/wavDINO-Emotion</a:t>
            </a:r>
            <a:endParaRPr lang="en-US" sz="1700" u="sng" dirty="0">
              <a:solidFill>
                <a:schemeClr val="accent1"/>
              </a:solidFill>
              <a:latin typeface="Times New Roman" panose="02020603050405020304" pitchFamily="18" charset="0"/>
              <a:cs typeface="Times New Roman" panose="02020603050405020304" pitchFamily="18" charset="0"/>
            </a:endParaRPr>
          </a:p>
          <a:p>
            <a:endParaRPr lang="en-US" sz="1700" u="sng" dirty="0">
              <a:solidFill>
                <a:schemeClr val="accent1"/>
              </a:solidFill>
              <a:latin typeface="Times New Roman" panose="02020603050405020304" pitchFamily="18" charset="0"/>
              <a:cs typeface="Times New Roman" panose="02020603050405020304" pitchFamily="18" charset="0"/>
            </a:endParaRPr>
          </a:p>
          <a:p>
            <a:r>
              <a:rPr lang="en-US" sz="1700" b="1" i="1" dirty="0">
                <a:latin typeface="Times New Roman" panose="02020603050405020304" pitchFamily="18" charset="0"/>
                <a:cs typeface="Times New Roman" panose="02020603050405020304" pitchFamily="18" charset="0"/>
              </a:rPr>
              <a:t>Temporal Facial Dynamics Framework: </a:t>
            </a:r>
          </a:p>
          <a:p>
            <a:r>
              <a:rPr lang="en-US" sz="1700" dirty="0">
                <a:latin typeface="Times New Roman" panose="02020603050405020304" pitchFamily="18" charset="0"/>
                <a:cs typeface="Times New Roman" panose="02020603050405020304" pitchFamily="18" charset="0"/>
                <a:hlinkClick r:id="rId4"/>
              </a:rPr>
              <a:t>https://github.com/hariprasad2005/temporal-audiovisual-emotion</a:t>
            </a:r>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6874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182880" y="4914900"/>
            <a:ext cx="8046720" cy="201168"/>
          </a:xfrm>
          <a:prstGeom prst="rect">
            <a:avLst/>
          </a:prstGeom>
          <a:noFill/>
          <a:ln/>
        </p:spPr>
        <p:txBody>
          <a:bodyPr wrap="square" lIns="0" tIns="0" rIns="0" bIns="0" rtlCol="0" anchor="ctr"/>
          <a:lstStyle/>
          <a:p>
            <a:pPr marL="0" indent="0" algn="l">
              <a:buNone/>
            </a:pPr>
            <a:r>
              <a:rPr lang="en-US" sz="700" dirty="0">
                <a:solidFill>
                  <a:schemeClr val="bg1"/>
                </a:solidFill>
                <a:latin typeface="Calibri" pitchFamily="34" charset="0"/>
                <a:ea typeface="Calibri" pitchFamily="34" charset="-122"/>
                <a:cs typeface="Calibri" pitchFamily="34" charset="-120"/>
              </a:rPr>
              <a:t>MPCON 2026  |  Paper ID: 1571241337  |  Temporal Facial Dynamics – Driven AV Emotion Recognition</a:t>
            </a:r>
            <a:endParaRPr lang="en-US" sz="700" dirty="0">
              <a:solidFill>
                <a:schemeClr val="bg1"/>
              </a:solidFill>
            </a:endParaRPr>
          </a:p>
        </p:txBody>
      </p:sp>
      <p:sp>
        <p:nvSpPr>
          <p:cNvPr id="7" name="Text 5"/>
          <p:cNvSpPr/>
          <p:nvPr/>
        </p:nvSpPr>
        <p:spPr>
          <a:xfrm>
            <a:off x="8732520" y="4896612"/>
            <a:ext cx="256032" cy="237744"/>
          </a:xfrm>
          <a:prstGeom prst="rect">
            <a:avLst/>
          </a:prstGeom>
          <a:noFill/>
          <a:ln/>
        </p:spPr>
        <p:txBody>
          <a:bodyPr wrap="square" lIns="0" tIns="0" rIns="0" bIns="0" rtlCol="0" anchor="ctr"/>
          <a:lstStyle/>
          <a:p>
            <a:pPr marL="0" indent="0" algn="ctr">
              <a:buNone/>
            </a:pPr>
            <a:endParaRPr lang="en-US" sz="800" dirty="0"/>
          </a:p>
        </p:txBody>
      </p:sp>
      <p:sp>
        <p:nvSpPr>
          <p:cNvPr id="11" name="Text 9"/>
          <p:cNvSpPr/>
          <p:nvPr/>
        </p:nvSpPr>
        <p:spPr>
          <a:xfrm>
            <a:off x="354330" y="72588"/>
            <a:ext cx="8686800" cy="658368"/>
          </a:xfrm>
          <a:prstGeom prst="rect">
            <a:avLst/>
          </a:prstGeom>
          <a:noFill/>
          <a:ln/>
        </p:spPr>
        <p:txBody>
          <a:bodyPr wrap="square" lIns="0" tIns="0" rIns="0" bIns="0" rtlCol="0" anchor="ctr"/>
          <a:lstStyle/>
          <a:p>
            <a:pPr marL="0" indent="0" algn="l">
              <a:buNone/>
            </a:pPr>
            <a:r>
              <a:rPr lang="en-US" sz="2200" b="1" dirty="0">
                <a:latin typeface="Times New Roman" panose="02020603050405020304" pitchFamily="18" charset="0"/>
                <a:ea typeface="Calibri Light" pitchFamily="34" charset="-122"/>
                <a:cs typeface="Times New Roman" panose="02020603050405020304" pitchFamily="18" charset="0"/>
              </a:rPr>
              <a:t>REFERENCES</a:t>
            </a:r>
            <a:endParaRPr lang="en-US" sz="2200" b="1" dirty="0">
              <a:latin typeface="Times New Roman" panose="02020603050405020304" pitchFamily="18" charset="0"/>
              <a:cs typeface="Times New Roman" panose="02020603050405020304" pitchFamily="18" charset="0"/>
            </a:endParaRPr>
          </a:p>
        </p:txBody>
      </p:sp>
      <p:sp>
        <p:nvSpPr>
          <p:cNvPr id="13" name="Text 11"/>
          <p:cNvSpPr/>
          <p:nvPr/>
        </p:nvSpPr>
        <p:spPr>
          <a:xfrm>
            <a:off x="8046720" y="256032"/>
            <a:ext cx="896112" cy="201168"/>
          </a:xfrm>
          <a:prstGeom prst="rect">
            <a:avLst/>
          </a:prstGeom>
          <a:noFill/>
          <a:ln/>
        </p:spPr>
        <p:txBody>
          <a:bodyPr wrap="square" lIns="0" tIns="0" rIns="0" bIns="0" rtlCol="0" anchor="ctr"/>
          <a:lstStyle/>
          <a:p>
            <a:pPr marL="0" indent="0" algn="ctr">
              <a:buNone/>
            </a:pPr>
            <a:endParaRPr lang="en-US" sz="750" dirty="0"/>
          </a:p>
        </p:txBody>
      </p:sp>
      <p:sp>
        <p:nvSpPr>
          <p:cNvPr id="16" name="Text 14"/>
          <p:cNvSpPr/>
          <p:nvPr/>
        </p:nvSpPr>
        <p:spPr>
          <a:xfrm>
            <a:off x="201168" y="708660"/>
            <a:ext cx="457200" cy="685800"/>
          </a:xfrm>
          <a:prstGeom prst="rect">
            <a:avLst/>
          </a:prstGeom>
          <a:noFill/>
          <a:ln/>
        </p:spPr>
        <p:txBody>
          <a:bodyPr wrap="square" lIns="0" tIns="0" rIns="0" bIns="0" rtlCol="0" anchor="ctr"/>
          <a:lstStyle/>
          <a:p>
            <a:pPr marL="0" indent="0" algn="ctr">
              <a:buNone/>
            </a:pPr>
            <a:endParaRPr lang="en-US" sz="1200" dirty="0"/>
          </a:p>
        </p:txBody>
      </p:sp>
      <p:sp>
        <p:nvSpPr>
          <p:cNvPr id="17" name="Text 15"/>
          <p:cNvSpPr/>
          <p:nvPr/>
        </p:nvSpPr>
        <p:spPr>
          <a:xfrm>
            <a:off x="525780" y="841600"/>
            <a:ext cx="8092440" cy="566928"/>
          </a:xfrm>
          <a:prstGeom prst="rect">
            <a:avLst/>
          </a:prstGeom>
          <a:noFill/>
          <a:ln/>
        </p:spPr>
        <p:txBody>
          <a:bodyPr wrap="square" lIns="0" tIns="0" rIns="0" bIns="0" rtlCol="0" anchor="ctr"/>
          <a:lstStyle/>
          <a:p>
            <a:pPr marL="0" indent="0" algn="l">
              <a:lnSpc>
                <a:spcPct val="125000"/>
              </a:lnSpc>
              <a:buNone/>
            </a:pPr>
            <a:r>
              <a:rPr lang="en-US" sz="1200" dirty="0">
                <a:latin typeface="Times New Roman" panose="02020603050405020304" pitchFamily="18" charset="0"/>
                <a:ea typeface="Calibri" pitchFamily="34" charset="-122"/>
                <a:cs typeface="Times New Roman" panose="02020603050405020304" pitchFamily="18" charset="0"/>
              </a:rPr>
              <a:t>[1] B. Nasersharif and M. Namvarpour, "Exploring the potential of Wav2Vec 2.0 for speech emotion recognition using classifier combination and attention-based feature fusion," The Journal of Supercomputing, vol. 80, no. 16, pp. 23667–23688, 2024.</a:t>
            </a:r>
            <a:endParaRPr lang="en-US" sz="1200" dirty="0">
              <a:latin typeface="Times New Roman" panose="02020603050405020304" pitchFamily="18" charset="0"/>
              <a:cs typeface="Times New Roman" panose="02020603050405020304" pitchFamily="18" charset="0"/>
            </a:endParaRPr>
          </a:p>
        </p:txBody>
      </p:sp>
      <p:sp>
        <p:nvSpPr>
          <p:cNvPr id="20" name="Text 18"/>
          <p:cNvSpPr/>
          <p:nvPr/>
        </p:nvSpPr>
        <p:spPr>
          <a:xfrm>
            <a:off x="182880" y="1673352"/>
            <a:ext cx="457200" cy="685800"/>
          </a:xfrm>
          <a:prstGeom prst="rect">
            <a:avLst/>
          </a:prstGeom>
          <a:noFill/>
          <a:ln/>
        </p:spPr>
        <p:txBody>
          <a:bodyPr wrap="square" lIns="0" tIns="0" rIns="0" bIns="0" rtlCol="0" anchor="ctr"/>
          <a:lstStyle/>
          <a:p>
            <a:pPr marL="0" indent="0" algn="ctr">
              <a:buNone/>
            </a:pPr>
            <a:endParaRPr lang="en-US" sz="1200" dirty="0"/>
          </a:p>
        </p:txBody>
      </p:sp>
      <p:sp>
        <p:nvSpPr>
          <p:cNvPr id="21" name="Text 19"/>
          <p:cNvSpPr/>
          <p:nvPr/>
        </p:nvSpPr>
        <p:spPr>
          <a:xfrm>
            <a:off x="525780" y="1550964"/>
            <a:ext cx="8092440" cy="566928"/>
          </a:xfrm>
          <a:prstGeom prst="rect">
            <a:avLst/>
          </a:prstGeom>
          <a:noFill/>
          <a:ln/>
        </p:spPr>
        <p:txBody>
          <a:bodyPr wrap="square" lIns="0" tIns="0" rIns="0" bIns="0" rtlCol="0" anchor="ctr"/>
          <a:lstStyle/>
          <a:p>
            <a:pPr marL="0" indent="0" algn="l">
              <a:lnSpc>
                <a:spcPct val="125000"/>
              </a:lnSpc>
              <a:buNone/>
            </a:pPr>
            <a:r>
              <a:rPr lang="en-US" sz="1200" dirty="0">
                <a:latin typeface="Times New Roman" panose="02020603050405020304" pitchFamily="18" charset="0"/>
                <a:ea typeface="Calibri" pitchFamily="34" charset="-122"/>
                <a:cs typeface="Times New Roman" panose="02020603050405020304" pitchFamily="18" charset="0"/>
              </a:rPr>
              <a:t>[2] C. Sun, Y. Zhou, X. Huang, J. Yang, and X. Hou, "Combining Wav2Vec 2.0 fine-tuning and ConLearnNet for speech emotion recognition," Electronics, vol. 13, no. 6, p. 1103, 2024</a:t>
            </a:r>
            <a:r>
              <a:rPr lang="en-US" sz="900" dirty="0">
                <a:latin typeface="Calibri" pitchFamily="34" charset="0"/>
                <a:ea typeface="Calibri" pitchFamily="34" charset="-122"/>
                <a:cs typeface="Calibri" pitchFamily="34" charset="-120"/>
              </a:rPr>
              <a:t>.</a:t>
            </a:r>
            <a:endParaRPr lang="en-US" sz="900" dirty="0"/>
          </a:p>
        </p:txBody>
      </p:sp>
      <p:sp>
        <p:nvSpPr>
          <p:cNvPr id="24" name="Text 22"/>
          <p:cNvSpPr/>
          <p:nvPr/>
        </p:nvSpPr>
        <p:spPr>
          <a:xfrm>
            <a:off x="182880" y="2432304"/>
            <a:ext cx="457200" cy="685800"/>
          </a:xfrm>
          <a:prstGeom prst="rect">
            <a:avLst/>
          </a:prstGeom>
          <a:noFill/>
          <a:ln/>
        </p:spPr>
        <p:txBody>
          <a:bodyPr wrap="square" lIns="0" tIns="0" rIns="0" bIns="0" rtlCol="0" anchor="ctr"/>
          <a:lstStyle/>
          <a:p>
            <a:pPr marL="0" indent="0" algn="ctr">
              <a:buNone/>
            </a:pPr>
            <a:endParaRPr lang="en-US" sz="1200" dirty="0"/>
          </a:p>
        </p:txBody>
      </p:sp>
      <p:sp>
        <p:nvSpPr>
          <p:cNvPr id="25" name="Text 23"/>
          <p:cNvSpPr/>
          <p:nvPr/>
        </p:nvSpPr>
        <p:spPr>
          <a:xfrm>
            <a:off x="525780" y="2184326"/>
            <a:ext cx="8092440" cy="566928"/>
          </a:xfrm>
          <a:prstGeom prst="rect">
            <a:avLst/>
          </a:prstGeom>
          <a:noFill/>
          <a:ln/>
        </p:spPr>
        <p:txBody>
          <a:bodyPr wrap="square" lIns="0" tIns="0" rIns="0" bIns="0" rtlCol="0" anchor="ctr"/>
          <a:lstStyle/>
          <a:p>
            <a:pPr marL="0" indent="0" algn="l">
              <a:lnSpc>
                <a:spcPct val="125000"/>
              </a:lnSpc>
              <a:buNone/>
            </a:pPr>
            <a:r>
              <a:rPr lang="en-US" sz="1200" dirty="0">
                <a:latin typeface="Times New Roman" panose="02020603050405020304" pitchFamily="18" charset="0"/>
                <a:ea typeface="Calibri" pitchFamily="34" charset="-122"/>
                <a:cs typeface="Times New Roman" panose="02020603050405020304" pitchFamily="18" charset="0"/>
              </a:rPr>
              <a:t>[3] B. T. Atmaja and A. Sasou, "Evaluating self-supervised speech representations for speech emotion recognition," IEEE Access, vol. 10, pp. 124396–124407, 2022.</a:t>
            </a:r>
            <a:endParaRPr lang="en-US" sz="1200" dirty="0">
              <a:latin typeface="Times New Roman" panose="02020603050405020304" pitchFamily="18" charset="0"/>
              <a:cs typeface="Times New Roman" panose="02020603050405020304" pitchFamily="18" charset="0"/>
            </a:endParaRPr>
          </a:p>
        </p:txBody>
      </p:sp>
      <p:sp>
        <p:nvSpPr>
          <p:cNvPr id="28" name="Text 26"/>
          <p:cNvSpPr/>
          <p:nvPr/>
        </p:nvSpPr>
        <p:spPr>
          <a:xfrm>
            <a:off x="182880" y="3191256"/>
            <a:ext cx="457200" cy="685800"/>
          </a:xfrm>
          <a:prstGeom prst="rect">
            <a:avLst/>
          </a:prstGeom>
          <a:noFill/>
          <a:ln/>
        </p:spPr>
        <p:txBody>
          <a:bodyPr wrap="square" lIns="0" tIns="0" rIns="0" bIns="0" rtlCol="0" anchor="ctr"/>
          <a:lstStyle/>
          <a:p>
            <a:pPr marL="0" indent="0" algn="ctr">
              <a:buNone/>
            </a:pPr>
            <a:endParaRPr lang="en-US" sz="1200" dirty="0"/>
          </a:p>
        </p:txBody>
      </p:sp>
      <p:sp>
        <p:nvSpPr>
          <p:cNvPr id="29" name="Text 27"/>
          <p:cNvSpPr/>
          <p:nvPr/>
        </p:nvSpPr>
        <p:spPr>
          <a:xfrm>
            <a:off x="525780" y="2858997"/>
            <a:ext cx="8092440" cy="566928"/>
          </a:xfrm>
          <a:prstGeom prst="rect">
            <a:avLst/>
          </a:prstGeom>
          <a:noFill/>
          <a:ln/>
        </p:spPr>
        <p:txBody>
          <a:bodyPr wrap="square" lIns="0" tIns="0" rIns="0" bIns="0" rtlCol="0" anchor="ctr"/>
          <a:lstStyle/>
          <a:p>
            <a:pPr marL="0" indent="0" algn="l">
              <a:lnSpc>
                <a:spcPct val="125000"/>
              </a:lnSpc>
              <a:buNone/>
            </a:pPr>
            <a:r>
              <a:rPr lang="en-US" sz="1200" dirty="0">
                <a:latin typeface="Times New Roman" panose="02020603050405020304" pitchFamily="18" charset="0"/>
                <a:ea typeface="Calibri" pitchFamily="34" charset="-122"/>
                <a:cs typeface="Times New Roman" panose="02020603050405020304" pitchFamily="18" charset="0"/>
              </a:rPr>
              <a:t>[4] S. Park, M. Mark, B. Park, and H. Hong, "Using speaker-specific emotion representations in Wav2Vec 2.0-based modules for speech emotion recognition," IEEE Access, 2023.</a:t>
            </a:r>
            <a:endParaRPr lang="en-US" sz="1200" dirty="0">
              <a:latin typeface="Times New Roman" panose="02020603050405020304" pitchFamily="18" charset="0"/>
              <a:cs typeface="Times New Roman" panose="02020603050405020304" pitchFamily="18" charset="0"/>
            </a:endParaRPr>
          </a:p>
        </p:txBody>
      </p:sp>
      <p:sp>
        <p:nvSpPr>
          <p:cNvPr id="32" name="Text 30"/>
          <p:cNvSpPr/>
          <p:nvPr/>
        </p:nvSpPr>
        <p:spPr>
          <a:xfrm>
            <a:off x="182880" y="3950208"/>
            <a:ext cx="457200" cy="685800"/>
          </a:xfrm>
          <a:prstGeom prst="rect">
            <a:avLst/>
          </a:prstGeom>
          <a:noFill/>
          <a:ln/>
        </p:spPr>
        <p:txBody>
          <a:bodyPr wrap="square" lIns="0" tIns="0" rIns="0" bIns="0" rtlCol="0" anchor="ctr"/>
          <a:lstStyle/>
          <a:p>
            <a:pPr marL="0" indent="0" algn="ctr">
              <a:buNone/>
            </a:pPr>
            <a:endParaRPr lang="en-US" sz="1200" dirty="0"/>
          </a:p>
        </p:txBody>
      </p:sp>
      <p:sp>
        <p:nvSpPr>
          <p:cNvPr id="33" name="Text 31"/>
          <p:cNvSpPr/>
          <p:nvPr/>
        </p:nvSpPr>
        <p:spPr>
          <a:xfrm>
            <a:off x="498348" y="3561206"/>
            <a:ext cx="8092440" cy="566928"/>
          </a:xfrm>
          <a:prstGeom prst="rect">
            <a:avLst/>
          </a:prstGeom>
          <a:noFill/>
          <a:ln/>
        </p:spPr>
        <p:txBody>
          <a:bodyPr wrap="square" lIns="0" tIns="0" rIns="0" bIns="0" rtlCol="0" anchor="ctr"/>
          <a:lstStyle/>
          <a:p>
            <a:pPr marL="0" indent="0" algn="l">
              <a:lnSpc>
                <a:spcPct val="125000"/>
              </a:lnSpc>
              <a:buNone/>
            </a:pPr>
            <a:r>
              <a:rPr lang="en-US" sz="1200" dirty="0">
                <a:latin typeface="Times New Roman" panose="02020603050405020304" pitchFamily="18" charset="0"/>
                <a:ea typeface="Calibri" pitchFamily="34" charset="-122"/>
                <a:cs typeface="Times New Roman" panose="02020603050405020304" pitchFamily="18" charset="0"/>
              </a:rPr>
              <a:t>[5] T. Chettaoui, N. Damer, and F. Boutros, "Are foundation models ready for face recognition?" Image and Vision Computing, vol. 156, p. 105453, 2025.</a:t>
            </a:r>
            <a:endParaRPr lang="en-US" sz="1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2011ED4-361A-889A-4D9D-9A2789CFA140}"/>
              </a:ext>
            </a:extLst>
          </p:cNvPr>
          <p:cNvSpPr txBox="1"/>
          <p:nvPr/>
        </p:nvSpPr>
        <p:spPr>
          <a:xfrm>
            <a:off x="354330" y="4275317"/>
            <a:ext cx="8435340" cy="500137"/>
          </a:xfrm>
          <a:prstGeom prst="rect">
            <a:avLst/>
          </a:prstGeom>
          <a:noFill/>
        </p:spPr>
        <p:txBody>
          <a:bodyPr wrap="square">
            <a:spAutoFit/>
          </a:bodyPr>
          <a:lstStyle/>
          <a:p>
            <a:pPr lvl="0" algn="just">
              <a:spcAft>
                <a:spcPts val="250"/>
              </a:spcAft>
              <a:buSzPts val="800"/>
              <a:tabLst>
                <a:tab pos="228600" algn="l"/>
              </a:tabLst>
            </a:pPr>
            <a:r>
              <a:rPr lang="en-IN" sz="1200" dirty="0">
                <a:latin typeface="Times New Roman" panose="02020603050405020304" pitchFamily="18" charset="0"/>
                <a:ea typeface="MS Mincho" panose="02020609040205080304" pitchFamily="49" charset="-128"/>
                <a:cs typeface="Times New Roman" panose="02020603050405020304" pitchFamily="18" charset="0"/>
              </a:rPr>
              <a:t> </a:t>
            </a:r>
            <a:r>
              <a:rPr lang="en-IN" sz="1200" dirty="0">
                <a:effectLst/>
                <a:latin typeface="Times New Roman" panose="02020603050405020304" pitchFamily="18" charset="0"/>
                <a:ea typeface="MS Mincho" panose="02020609040205080304" pitchFamily="49" charset="-128"/>
                <a:cs typeface="Times New Roman" panose="02020603050405020304" pitchFamily="18" charset="0"/>
              </a:rPr>
              <a:t>[6] T. Nguyen et al., “Hybrid CNN–RNN architecture for real-time emotion detection,” in Proc. IEEE Real-Time Systems</a:t>
            </a:r>
          </a:p>
          <a:p>
            <a:pPr lvl="0" algn="just">
              <a:spcAft>
                <a:spcPts val="250"/>
              </a:spcAft>
              <a:buSzPts val="800"/>
              <a:tabLst>
                <a:tab pos="228600" algn="l"/>
              </a:tabLst>
            </a:pPr>
            <a:r>
              <a:rPr lang="en-IN" sz="1200" dirty="0">
                <a:effectLst/>
                <a:latin typeface="Times New Roman" panose="02020603050405020304" pitchFamily="18" charset="0"/>
                <a:ea typeface="MS Mincho" panose="02020609040205080304" pitchFamily="49" charset="-128"/>
                <a:cs typeface="Times New Roman" panose="02020603050405020304" pitchFamily="18" charset="0"/>
              </a:rPr>
              <a:t> Conference, 2022.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3"/>
          <p:cNvSpPr/>
          <p:nvPr/>
        </p:nvSpPr>
        <p:spPr>
          <a:xfrm>
            <a:off x="7772400" y="91440"/>
            <a:ext cx="1188720" cy="320040"/>
          </a:xfrm>
          <a:prstGeom prst="rect">
            <a:avLst/>
          </a:prstGeom>
          <a:noFill/>
          <a:ln/>
        </p:spPr>
        <p:txBody>
          <a:bodyPr wrap="square" lIns="0" tIns="0" rIns="0" bIns="0" rtlCol="0" anchor="ctr"/>
          <a:lstStyle/>
          <a:p>
            <a:pPr marL="0" indent="0" algn="ctr">
              <a:buNone/>
            </a:pPr>
            <a:r>
              <a:rPr lang="en-US" sz="1400" b="1" dirty="0">
                <a:solidFill>
                  <a:srgbClr val="FFFFFF"/>
                </a:solidFill>
              </a:rPr>
              <a:t>10 / 0</a:t>
            </a:r>
            <a:endParaRPr lang="en-US" sz="1400" dirty="0"/>
          </a:p>
        </p:txBody>
      </p:sp>
      <p:sp>
        <p:nvSpPr>
          <p:cNvPr id="6" name="Text 4"/>
          <p:cNvSpPr/>
          <p:nvPr/>
        </p:nvSpPr>
        <p:spPr>
          <a:xfrm>
            <a:off x="2181497" y="1825787"/>
            <a:ext cx="4781005" cy="1040783"/>
          </a:xfrm>
          <a:prstGeom prst="rect">
            <a:avLst/>
          </a:prstGeom>
          <a:noFill/>
          <a:ln/>
        </p:spPr>
        <p:txBody>
          <a:bodyPr wrap="square" rtlCol="0" anchor="ctr"/>
          <a:lstStyle/>
          <a:p>
            <a:pPr marL="0" indent="0">
              <a:buNone/>
            </a:pPr>
            <a:r>
              <a:rPr lang="en-US" sz="7200" b="1" dirty="0">
                <a:latin typeface="Times New Roman" panose="02020603050405020304" pitchFamily="18" charset="0"/>
                <a:ea typeface="Calibri" pitchFamily="34" charset="-122"/>
                <a:cs typeface="Times New Roman" panose="02020603050405020304" pitchFamily="18" charset="0"/>
              </a:rPr>
              <a:t>Thank You </a:t>
            </a:r>
            <a:endParaRPr lang="en-US" sz="7200" dirty="0">
              <a:latin typeface="Times New Roman" panose="02020603050405020304" pitchFamily="18" charset="0"/>
              <a:cs typeface="Times New Roman" panose="02020603050405020304" pitchFamily="18" charset="0"/>
            </a:endParaRPr>
          </a:p>
        </p:txBody>
      </p:sp>
      <p:sp>
        <p:nvSpPr>
          <p:cNvPr id="24" name="Text 22"/>
          <p:cNvSpPr/>
          <p:nvPr/>
        </p:nvSpPr>
        <p:spPr>
          <a:xfrm>
            <a:off x="0" y="4873752"/>
            <a:ext cx="9144000" cy="269748"/>
          </a:xfrm>
          <a:prstGeom prst="rect">
            <a:avLst/>
          </a:prstGeom>
          <a:noFill/>
          <a:ln/>
        </p:spPr>
        <p:txBody>
          <a:bodyPr wrap="square" lIns="0" tIns="0" rIns="0" bIns="0" rtlCol="0" anchor="ctr"/>
          <a:lstStyle/>
          <a:p>
            <a:pPr algn="ctr"/>
            <a:r>
              <a:rPr lang="en-US" sz="1000" dirty="0">
                <a:solidFill>
                  <a:srgbClr val="FFFFFF"/>
                </a:solidFill>
              </a:rPr>
              <a:t>Affective Computing  •  Self-</a:t>
            </a:r>
            <a:r>
              <a:rPr lang="en-US" sz="1000" dirty="0" err="1">
                <a:solidFill>
                  <a:srgbClr val="FFFFFF"/>
                </a:solidFill>
              </a:rPr>
              <a:t>Suevisd</a:t>
            </a:r>
            <a:r>
              <a:rPr lang="en-US" sz="1000" dirty="0">
                <a:solidFill>
                  <a:srgbClr val="FFFFFF"/>
                </a:solidFill>
              </a:rPr>
              <a:t> Learning  •  Multimodal AI</a:t>
            </a:r>
            <a:endParaRPr lang="en-US" sz="1000" dirty="0"/>
          </a:p>
        </p:txBody>
      </p:sp>
    </p:spTree>
    <p:extLst>
      <p:ext uri="{BB962C8B-B14F-4D97-AF65-F5344CB8AC3E}">
        <p14:creationId xmlns:p14="http://schemas.microsoft.com/office/powerpoint/2010/main" val="16714741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610</TotalTime>
  <Words>1123</Words>
  <Application>Microsoft Office PowerPoint</Application>
  <PresentationFormat>On-screen Show (16:9)</PresentationFormat>
  <Paragraphs>100</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Temporal Facial Dynamics–Driven Audio-Visual Emotion Recognition</dc:title>
  <dc:subject>PptxGenJS Presentation</dc:subject>
  <dc:creator>PptxGenJS</dc:creator>
  <cp:lastModifiedBy>Hariprasad M</cp:lastModifiedBy>
  <cp:revision>55</cp:revision>
  <dcterms:created xsi:type="dcterms:W3CDTF">2026-03-06T13:46:17Z</dcterms:created>
  <dcterms:modified xsi:type="dcterms:W3CDTF">2026-04-26T05:27:40Z</dcterms:modified>
</cp:coreProperties>
</file>