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61" r:id="rId5"/>
    <p:sldId id="271" r:id="rId6"/>
    <p:sldId id="263" r:id="rId7"/>
    <p:sldId id="265" r:id="rId8"/>
    <p:sldId id="266" r:id="rId9"/>
    <p:sldId id="275" r:id="rId10"/>
    <p:sldId id="270" r:id="rId11"/>
    <p:sldId id="267" r:id="rId12"/>
    <p:sldId id="273" r:id="rId13"/>
    <p:sldId id="272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803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7B0D3-2F07-58E3-9FBE-F1C628097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9E53D-C06D-FD8C-7558-FF3659AFE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99109-F57A-17F3-3687-2D8EDB8E3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F4D0C-F0B0-C720-2803-0DCD76F2A8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93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54DB4-3490-9C5F-B7B3-7A64D4C95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88600-E27F-D445-9D12-BFB58D3E7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73A63-5195-B143-517F-E6C1E0D2F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9A615-D358-454F-E23C-DA58A07DC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7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ADD6B-E26A-E40B-A07A-9248E08C6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7D5CA-A3C2-9CC9-1C50-7DCD6CD67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F2A48-B4B0-4FC9-2772-F6F34B3C0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42C2A-2585-2F97-2A99-59A11D67B2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4436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6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iprasad2005/wavDINO-Emotio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ariprasad2005/temporal-audiovisual-emotion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3152" y="109974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REVIEW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2707" y="1752795"/>
            <a:ext cx="8503920" cy="1970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Temporal Facial Dynamics–Driven Audio-Visual Emotion Recognition Using Vision Transformers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05861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608326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b="1" dirty="0"/>
          </a:p>
        </p:txBody>
      </p:sp>
      <p:sp>
        <p:nvSpPr>
          <p:cNvPr id="9" name="Text 7"/>
          <p:cNvSpPr/>
          <p:nvPr/>
        </p:nvSpPr>
        <p:spPr>
          <a:xfrm>
            <a:off x="426954" y="3452605"/>
            <a:ext cx="8503920" cy="880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GUIDE:                                                                                             TEAM MEMBERS: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Mrs. E. Padma AP/CSE                                                                  </a:t>
            </a: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Chanthuru S R (22CS013)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Hariprasad M (22CS030)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Mohana Prasath G (22CS050)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41241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3E66E9-2111-677F-D5A1-D7156B14D801}"/>
              </a:ext>
            </a:extLst>
          </p:cNvPr>
          <p:cNvSpPr txBox="1"/>
          <p:nvPr/>
        </p:nvSpPr>
        <p:spPr>
          <a:xfrm>
            <a:off x="1275793" y="255599"/>
            <a:ext cx="77254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NANDHA ENGINEERING COLLEGE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A black and white logo">
            <a:extLst>
              <a:ext uri="{FF2B5EF4-FFF2-40B4-BE49-F238E27FC236}">
                <a16:creationId xmlns:a16="http://schemas.microsoft.com/office/drawing/2014/main" id="{000A59CE-60D8-D3A1-B507-1E6D57F40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" y="259769"/>
            <a:ext cx="1280160" cy="8738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3FB0B8-A261-2348-77DF-F5F782761893}"/>
              </a:ext>
            </a:extLst>
          </p:cNvPr>
          <p:cNvSpPr txBox="1"/>
          <p:nvPr/>
        </p:nvSpPr>
        <p:spPr>
          <a:xfrm>
            <a:off x="3699802" y="1071503"/>
            <a:ext cx="2229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VIVA VOICE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27/04/2026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48251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ABSTRACT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8620" y="1211580"/>
            <a:ext cx="8366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8620" y="1138042"/>
            <a:ext cx="8366760" cy="34296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Emotion recognition is a key component of affective computing, enabling intelligent interaction in healthcare, education, and human-computer interaction. Many existing facial emotion recognition methods rely on static representations from a single frame, failing to capture how expressions evolve over time.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work proposes a Temporal Facial Dynamic-Driven Audio-Visual Emotion Recognition framework that uniformly samples multiple facial frames from video sequences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encodes each frame using a Vision Transformer (DINOv2)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aggregates frame-level embeddings via temporal average pooling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fuses visual features with Wav2Vec 2.0 speech embeddings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a transformer-based fusion network for emotion classification.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3939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SYSTEM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Current Approach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1298448"/>
            <a:ext cx="8458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existing audio-visual emotion recognition systems process facial data as static patterns — extracting features from a single video frame — completely ignoring the temporal evolution of facial expressions.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219913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Static Frame Analysis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2510028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Only one frame per video is used, failing to capture micro-expressions and gradual emotional transitions over time.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00600" y="219913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Temporal Dynamics Ignored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00600" y="2510028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Emotions evolve through subtle muscle movements; static methods miss the dynamic nature of affective states.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5760" y="35250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Misclassification Risk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1480" y="3845052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Similar static appearances of emotions like 'neutral' and 'sad' lead to high confusion rates in single-frame systems.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00600" y="35250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Incomplete Multimodal Fusion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46320" y="3845052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Audio-visual systems without temporal facial modeling underperform; missing expression dynamics reduces overall accuracy.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70866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SYSTEM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6324" y="932688"/>
            <a:ext cx="8458200" cy="4119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It captures facial expression changes over time instead of relying on a single static image. Multiple frames are extracted from video to represent emotion progression. Each frame is processed using a Vision Transformer to obtain visual features. These features are combined to form a temporal representation of facial emotions and audio signals are processed using a self-supervised speech model. The system extracts important speech features like tone, pitch, and emotion cues. Audio and visual features are fused together for better understanding. A transformer-based fusion model learns relationships between both modalities. The final output is accurate emotion classification. This approach improves performance by using both temporal facial data and audio signals. </a:t>
            </a:r>
          </a:p>
        </p:txBody>
      </p:sp>
      <p:sp>
        <p:nvSpPr>
          <p:cNvPr id="12" name="Text 10"/>
          <p:cNvSpPr/>
          <p:nvPr/>
        </p:nvSpPr>
        <p:spPr>
          <a:xfrm>
            <a:off x="301752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" y="2286000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27832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48456" y="192024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64408" y="2286000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53912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74536" y="192024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90488" y="2286000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01752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" y="333756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" y="3703320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endParaRPr lang="en-US" sz="14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227832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48456" y="333756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264408" y="3703320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53912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74536" y="333756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90488" y="3959733"/>
            <a:ext cx="2542032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081FE4-D4AF-D2ED-C311-4B7BAAD6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B774B2A-759B-2EB4-4991-DD33B77478F9}"/>
              </a:ext>
            </a:extLst>
          </p:cNvPr>
          <p:cNvSpPr/>
          <p:nvPr/>
        </p:nvSpPr>
        <p:spPr>
          <a:xfrm>
            <a:off x="260298" y="18067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ARCHITECTURE OF PROPOSED  MODEL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0AFFD3B-96E7-429B-9CFB-CA1DBAF4098D}"/>
              </a:ext>
            </a:extLst>
          </p:cNvPr>
          <p:cNvSpPr/>
          <p:nvPr/>
        </p:nvSpPr>
        <p:spPr>
          <a:xfrm>
            <a:off x="7772400" y="91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5957F7B-140C-FF75-2410-00C0645D69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9" t="2730" r="2284" b="17724"/>
          <a:stretch>
            <a:fillRect/>
          </a:stretch>
        </p:blipFill>
        <p:spPr bwMode="auto">
          <a:xfrm>
            <a:off x="4723700" y="1549278"/>
            <a:ext cx="4237420" cy="236688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E864FB-3A66-4D22-1F93-FEC0BD25B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06" y="1549278"/>
            <a:ext cx="4357894" cy="23668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F00FE8-7303-9817-4C03-5ADAE904B274}"/>
              </a:ext>
            </a:extLst>
          </p:cNvPr>
          <p:cNvSpPr txBox="1"/>
          <p:nvPr/>
        </p:nvSpPr>
        <p:spPr>
          <a:xfrm>
            <a:off x="274320" y="389897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Architecture of Proposed </a:t>
            </a:r>
            <a:r>
              <a:rPr lang="en-IN" sz="1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wavDINO</a:t>
            </a: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-Emotion Model</a:t>
            </a:r>
            <a:endParaRPr lang="en-IN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1675AA-B8A5-7C9A-63F0-D7DA5C3059BD}"/>
              </a:ext>
            </a:extLst>
          </p:cNvPr>
          <p:cNvSpPr txBox="1"/>
          <p:nvPr/>
        </p:nvSpPr>
        <p:spPr>
          <a:xfrm>
            <a:off x="4556410" y="3898975"/>
            <a:ext cx="457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Overview of the proposed temporal facial dynamics–driven audio-visual emotion recognition framework.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367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2880" y="50741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LIST &amp; DESCRIPTION MODULE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Preprocessing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129844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Audio resampled to 16kHz and normalized. Facial region localized using MTCNN and resized to 224x224 px to meet Vision Transformer input requirements.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2331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Temporal Frame Sampling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2642616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8-16 frames uniformly sampled per video. Ensures sufficient temporal coverage of facial expression dynamics across the full video duration.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760" y="367588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 Feature Extraction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98755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Temporal Aggregation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0" y="125272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combines the frame-level visual features into a single representation. Temporal average pooling is applied to capture the progression of facial expressions, helping the model understand emotion dynamics instead of static images.</a:t>
            </a:r>
          </a:p>
        </p:txBody>
      </p:sp>
      <p:sp>
        <p:nvSpPr>
          <p:cNvPr id="25" name="Text 23"/>
          <p:cNvSpPr/>
          <p:nvPr/>
        </p:nvSpPr>
        <p:spPr>
          <a:xfrm>
            <a:off x="4846320" y="2331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Audio Feature Extraction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46320" y="2642616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Wav2Vec 2.0 encodes raw speech waveforms into fixed-length embeddings capturing emotional acoustic properties: tone, pitch, and prosody.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46320" y="367588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Multimodal Fusion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46320" y="3986784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merges audio and visual features using a transformer model to improve emotion recognition by learning relationships between speech and facial expressions.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6428" y="3986784"/>
            <a:ext cx="39669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extracts facial features from video by sampling frames, detecting faces using MTCNN, and generating visual embeddings through a Vision Transformer.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14800" y="218775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4197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SCREENSHOTS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AutoShape 2" descr="blob:https://web.whatsapp.com/de028312-4c07-4a2c-afbf-21293f3f87f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" name="AutoShape 4" descr="blob:https://web.whatsapp.com/d37035cc-5531-4f7f-93ec-178d5582248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4F9885-0D75-5DD2-473A-73C99480B548}"/>
              </a:ext>
            </a:extLst>
          </p:cNvPr>
          <p:cNvGrpSpPr/>
          <p:nvPr/>
        </p:nvGrpSpPr>
        <p:grpSpPr>
          <a:xfrm>
            <a:off x="460375" y="830263"/>
            <a:ext cx="3606571" cy="2007921"/>
            <a:chOff x="1055740" y="904875"/>
            <a:chExt cx="5785270" cy="3381941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3"/>
            <a:srcRect l="226" t="15784" r="-34" b="7412"/>
            <a:stretch>
              <a:fillRect/>
            </a:stretch>
          </p:blipFill>
          <p:spPr>
            <a:xfrm>
              <a:off x="1055740" y="2375338"/>
              <a:ext cx="5785270" cy="1911478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4"/>
            <a:srcRect l="-46" r="-34"/>
            <a:stretch>
              <a:fillRect/>
            </a:stretch>
          </p:blipFill>
          <p:spPr>
            <a:xfrm>
              <a:off x="1055740" y="904875"/>
              <a:ext cx="5785270" cy="1470463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F681EAC-B105-72EB-5FB1-E4FB0EF33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696" y="830263"/>
            <a:ext cx="3730929" cy="20079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2118357-A0D8-B654-B2AC-A71F886F37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8714" y="2936927"/>
            <a:ext cx="3606571" cy="2014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28600" y="3429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 — RESULTS &amp; EVALUATION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Dataset-wise Performance</a:t>
            </a:r>
            <a:endParaRPr lang="en-US" sz="13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1261872"/>
            <a:ext cx="4206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618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        Accuracy     F1-Score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8600" y="1609344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276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CREMA-D    87.8%         0.87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8600" y="1975104"/>
            <a:ext cx="420624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933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RAVDESS     86.7%         0.86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8600" y="2340864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591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AFEW           73.1%          0.70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9160" y="914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Comparison</a:t>
            </a:r>
            <a:endParaRPr lang="en-US" sz="13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09160" y="1261872"/>
            <a:ext cx="42062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307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Audio-Only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98080" y="1307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84.5%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83880" y="130759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655064"/>
            <a:ext cx="42062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7007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 – Static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98080" y="17007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83.2%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83880" y="170078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048256"/>
            <a:ext cx="42062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0939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Audio-Visual – Static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98080" y="20939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86.0%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83880" y="209397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2441448"/>
            <a:ext cx="4206240" cy="374904"/>
          </a:xfrm>
          <a:prstGeom prst="rect">
            <a:avLst/>
          </a:prstGeom>
          <a:solidFill>
            <a:schemeClr val="tx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487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Audio-Visual – Temporal (Proposed)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498080" y="24871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87.3%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83880" y="248716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0.86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8600" y="29260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Cross-Dataset Evaluation</a:t>
            </a:r>
            <a:endParaRPr lang="en-US" sz="13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28600" y="329184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20040" y="33649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CREMA-D  =&gt;  Test: </a:t>
            </a:r>
            <a:r>
              <a:rPr lang="en-US" sz="12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RAVDESS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74320" y="37307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Accuracy: 85.0%    F1-Score: 0.84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172968" y="329184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264408" y="33649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Train: CREMA-D  =&gt;  Test: AFEW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218688" y="3689604"/>
            <a:ext cx="2651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Accuracy: 71.4%    F1-Score: 0.69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117336" y="329184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126480" y="3364992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Train: RAVDESS  =&gt;  Test: CREMA-D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172200" y="37307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Accuracy: 83.8%    F1-Score: 0.83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12B21-47C7-8765-28EC-1D34A4467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2F686B5-F07B-3F1E-327F-89341940E10C}"/>
              </a:ext>
            </a:extLst>
          </p:cNvPr>
          <p:cNvSpPr/>
          <p:nvPr/>
        </p:nvSpPr>
        <p:spPr>
          <a:xfrm>
            <a:off x="274320" y="685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CODING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C4FD45-B60D-0654-4D14-EE5F6CF59996}"/>
              </a:ext>
            </a:extLst>
          </p:cNvPr>
          <p:cNvSpPr/>
          <p:nvPr/>
        </p:nvSpPr>
        <p:spPr>
          <a:xfrm>
            <a:off x="7772400" y="91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A9767E-A4D6-93C5-5615-F7FFC0254044}"/>
              </a:ext>
            </a:extLst>
          </p:cNvPr>
          <p:cNvSpPr txBox="1"/>
          <p:nvPr/>
        </p:nvSpPr>
        <p:spPr>
          <a:xfrm>
            <a:off x="476979" y="903569"/>
            <a:ext cx="7837027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The complete source code for the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wavDINO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-Emotion framework and the Temporal Facial Dynamics-driven Audio-Visual Emotion Recognition framework, including all pre-processing pipelines, model architectures, training scripts and evaluation utilities, is available in the following GitHub repositories:</a:t>
            </a:r>
          </a:p>
          <a:p>
            <a:pPr algn="just"/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wavDINO</a:t>
            </a:r>
            <a:r>
              <a:rPr lang="en-US" sz="1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-Emotion Framework:</a:t>
            </a:r>
          </a:p>
          <a:p>
            <a:r>
              <a:rPr lang="en-US" sz="17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https://github.com/hariprasad2005/wavDINO-Emotion</a:t>
            </a:r>
            <a:endParaRPr lang="en-US" sz="1700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700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Facial Dynamics Framework: 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https://github.com/hariprasad2005/temporal-audiovisual-emotion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874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114B9-E6A1-D027-4AA3-D5A960AB4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1874390-F44A-930A-929F-1A57688596B0}"/>
              </a:ext>
            </a:extLst>
          </p:cNvPr>
          <p:cNvSpPr/>
          <p:nvPr/>
        </p:nvSpPr>
        <p:spPr>
          <a:xfrm>
            <a:off x="27432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REAL-WORLD APPLICATIONS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DE269ED-2E0E-CE4A-C72D-20ECE34F84AB}"/>
              </a:ext>
            </a:extLst>
          </p:cNvPr>
          <p:cNvSpPr/>
          <p:nvPr/>
        </p:nvSpPr>
        <p:spPr>
          <a:xfrm>
            <a:off x="7772400" y="91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AutoShape 2" descr="blob:https://web.whatsapp.com/de028312-4c07-4a2c-afbf-21293f3f87f3">
            <a:extLst>
              <a:ext uri="{FF2B5EF4-FFF2-40B4-BE49-F238E27FC236}">
                <a16:creationId xmlns:a16="http://schemas.microsoft.com/office/drawing/2014/main" id="{15AC4AF7-D654-415E-F64C-C375ED05EA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" name="AutoShape 4" descr="blob:https://web.whatsapp.com/d37035cc-5531-4f7f-93ec-178d5582248d">
            <a:extLst>
              <a:ext uri="{FF2B5EF4-FFF2-40B4-BE49-F238E27FC236}">
                <a16:creationId xmlns:a16="http://schemas.microsoft.com/office/drawing/2014/main" id="{F6DFAF4B-7A2E-A470-5840-4D8AB1202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163E22E3-8985-88DF-554A-DAFA847D5423}"/>
              </a:ext>
            </a:extLst>
          </p:cNvPr>
          <p:cNvSpPr/>
          <p:nvPr/>
        </p:nvSpPr>
        <p:spPr>
          <a:xfrm>
            <a:off x="210377" y="76679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Monitoring:</a:t>
            </a:r>
            <a:endParaRPr 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C8B30B36-AF47-91B3-9A44-D612B8754007}"/>
              </a:ext>
            </a:extLst>
          </p:cNvPr>
          <p:cNvSpPr/>
          <p:nvPr/>
        </p:nvSpPr>
        <p:spPr>
          <a:xfrm>
            <a:off x="460375" y="109422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detects emotional distress during telemedicine consultations.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AAB18697-18B6-4B81-5AF0-C784D1158934}"/>
              </a:ext>
            </a:extLst>
          </p:cNvPr>
          <p:cNvSpPr/>
          <p:nvPr/>
        </p:nvSpPr>
        <p:spPr>
          <a:xfrm>
            <a:off x="182880" y="2350831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Education Systems:</a:t>
            </a:r>
            <a:endParaRPr 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A9B687FB-2E82-4AFD-620A-82353885CD6C}"/>
              </a:ext>
            </a:extLst>
          </p:cNvPr>
          <p:cNvSpPr/>
          <p:nvPr/>
        </p:nvSpPr>
        <p:spPr>
          <a:xfrm>
            <a:off x="432878" y="2670871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detects student confusion or engagement during online classes.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F5EB6E83-CBA5-A39E-FF19-2501E543ED34}"/>
              </a:ext>
            </a:extLst>
          </p:cNvPr>
          <p:cNvSpPr/>
          <p:nvPr/>
        </p:nvSpPr>
        <p:spPr>
          <a:xfrm>
            <a:off x="210377" y="167469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Service Analytics:</a:t>
            </a:r>
            <a:endParaRPr 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8332BDCB-C7DD-78DB-E219-48F3E8FCF67D}"/>
              </a:ext>
            </a:extLst>
          </p:cNvPr>
          <p:cNvSpPr/>
          <p:nvPr/>
        </p:nvSpPr>
        <p:spPr>
          <a:xfrm>
            <a:off x="460375" y="1960985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detection during support calls.</a:t>
            </a:r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5A8F6A94-471E-8F07-B4BA-56034AEA2720}"/>
              </a:ext>
            </a:extLst>
          </p:cNvPr>
          <p:cNvSpPr/>
          <p:nvPr/>
        </p:nvSpPr>
        <p:spPr>
          <a:xfrm>
            <a:off x="182880" y="326893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Monitoring Systems:</a:t>
            </a:r>
            <a:endParaRPr 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55889045-CE9A-49D0-01BA-5DB6D57FD45A}"/>
              </a:ext>
            </a:extLst>
          </p:cNvPr>
          <p:cNvSpPr/>
          <p:nvPr/>
        </p:nvSpPr>
        <p:spPr>
          <a:xfrm>
            <a:off x="432878" y="358897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driver fatigue or stress in vehicles.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8E48BC-6EDE-CFCD-4A43-4D26A2EF193B}"/>
              </a:ext>
            </a:extLst>
          </p:cNvPr>
          <p:cNvSpPr txBox="1"/>
          <p:nvPr/>
        </p:nvSpPr>
        <p:spPr>
          <a:xfrm>
            <a:off x="4187952" y="282783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7451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827264" y="696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7063" y="132206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66851" y="939707"/>
            <a:ext cx="8229600" cy="1357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</p:txBody>
      </p:sp>
      <p:sp>
        <p:nvSpPr>
          <p:cNvPr id="10" name="Text 8"/>
          <p:cNvSpPr/>
          <p:nvPr/>
        </p:nvSpPr>
        <p:spPr>
          <a:xfrm>
            <a:off x="266851" y="141555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6851" y="187363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6851" y="284641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6C3E07-FDA9-2D30-6920-4FEC5D0AB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809" y="1017994"/>
            <a:ext cx="791264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Temporal modelling captures the evolution of facial expressions over time, enabling a better understanding of emotional dynamics. Multimodal fusion further enhances emotion recognition accuracy by combining both audio and visual features. The proposed model achieves 87.8% accuracy on the CREMA-D dataset and outperforms traditional static audio-visual models, demonstrating improved robustness, better distinction of similar emotions, and strong generalization across different datasets.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82880" y="49149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732520" y="48966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8600" y="121685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FUTURE</a:t>
            </a:r>
            <a:r>
              <a:rPr lang="en-US" sz="2200" b="1" dirty="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SCOPES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6720" y="25603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-102695" y="73292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sz="13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Lightweight Attention</a:t>
            </a:r>
            <a:endParaRPr lang="en-US" sz="13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0352" y="1097282"/>
            <a:ext cx="7699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 lightweight temporal attention mechanisms for faster inference without sacrificing accuracy.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-73505" y="1348562"/>
            <a:ext cx="2514600" cy="486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sz="13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Deployment</a:t>
            </a:r>
            <a:endParaRPr lang="en-US" sz="13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0351" y="1780965"/>
            <a:ext cx="71857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Engineer real-time emotion recognition pipelines suitable for live production environments.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-261660" y="2101005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sz="13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Noise Robustness</a:t>
            </a:r>
            <a:endParaRPr lang="en-US" sz="13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0352" y="2441095"/>
            <a:ext cx="6988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 model robustness to acoustic and visual noise in challenging real-world conditions.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-73505" y="2729483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sz="13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Telehealth &amp; Education</a:t>
            </a:r>
            <a:endParaRPr lang="en-US" sz="13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0352" y="3130060"/>
            <a:ext cx="7516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 in telehealth platforms and smart classrooms for adaptive, emotion-aware interactions.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-261660" y="3442719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sz="13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 Optimization</a:t>
            </a:r>
            <a:endParaRPr lang="en-US" sz="13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77597" y="3811644"/>
            <a:ext cx="6886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Optimize models for edge-device deployment (mobile, IoT) with model compression techniques.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82880" y="49149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MPCON 2026  |  Paper ID: 1571241337  |  Temporal Facial Dynamics – Driven AV Emotion Recognition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732520" y="48966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4330" y="7258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REFERENCES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6720" y="25603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01168" y="7086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" y="841600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[1] B. Nasersharif and M. Namvarpour, "Exploring the potential of Wav2Vec 2.0 for speech emotion recognition using classifier combination and attention-based feature fusion," The Journal of Supercomputing, vol. 80, no. 16, pp. 23667–23688, 2024.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2880" y="1673352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" y="1550964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[2] C. Sun, Y. Zhou, X. Huang, J. Yang, and X. Hou, "Combining Wav2Vec 2.0 fine-tuning and ConLearnNet for speech emotion recognition," Electronics, vol. 13, no. 6, p. 1103, 2024</a:t>
            </a: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2880" y="2432304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" y="2184326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[3] B. T. Atmaja and A. Sasou, "Evaluating self-supervised speech representations for speech emotion recognition," IEEE Access, vol. 10, pp. 124396–124407, 2022.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82880" y="3191256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" y="2858997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[4] S. Park, M. Mark, B. Park, and H. Hong, "Using speaker-specific emotion representations in Wav2Vec 2.0-based modules for speech emotion recognition," IEEE Access, 2023.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82880" y="395020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" y="3561206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[5] T. Chettaoui, N. Damer, and F. Boutros, "Are foundation models ready for face recognition?" Image and Vision Computing, vol. 156, p. 105453, 2025.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011ED4-361A-889A-4D9D-9A2789CFA140}"/>
              </a:ext>
            </a:extLst>
          </p:cNvPr>
          <p:cNvSpPr txBox="1"/>
          <p:nvPr/>
        </p:nvSpPr>
        <p:spPr>
          <a:xfrm>
            <a:off x="354330" y="4275317"/>
            <a:ext cx="843534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250"/>
              </a:spcAft>
              <a:buSzPts val="800"/>
              <a:tabLst>
                <a:tab pos="228600" algn="l"/>
              </a:tabLst>
            </a:pPr>
            <a:r>
              <a:rPr lang="en-IN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N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[6] T. Nguyen et al., “Hybrid CNN–RNN architecture for real-time emotion detection,” in Proc. IEEE Real-Time Systems</a:t>
            </a:r>
          </a:p>
          <a:p>
            <a:pPr lvl="0" algn="just">
              <a:spcAft>
                <a:spcPts val="250"/>
              </a:spcAft>
              <a:buSzPts val="800"/>
              <a:tabLst>
                <a:tab pos="228600" algn="l"/>
              </a:tabLst>
            </a:pPr>
            <a:r>
              <a:rPr lang="en-IN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Conference, 2022.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772400" y="91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 / 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81497" y="1825787"/>
            <a:ext cx="4781005" cy="10407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 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Affective Computing  •  Self-</a:t>
            </a:r>
            <a:r>
              <a:rPr lang="en-US" sz="1000" dirty="0" err="1">
                <a:solidFill>
                  <a:srgbClr val="FFFFFF"/>
                </a:solidFill>
              </a:rPr>
              <a:t>Suevisd</a:t>
            </a:r>
            <a:r>
              <a:rPr lang="en-US" sz="1000" dirty="0">
                <a:solidFill>
                  <a:srgbClr val="FFFFFF"/>
                </a:solidFill>
              </a:rPr>
              <a:t> Learning  •  Multimodal AI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71474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1252</Words>
  <Application>Microsoft Office PowerPoint</Application>
  <PresentationFormat>On-screen Show (16:9)</PresentationFormat>
  <Paragraphs>127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Temporal Facial Dynamics–Driven Audio-Visual Emotion Recognition</dc:title>
  <dc:subject>PptxGenJS Presentation</dc:subject>
  <dc:creator>PptxGenJS</dc:creator>
  <cp:lastModifiedBy>Hariprasad M</cp:lastModifiedBy>
  <cp:revision>55</cp:revision>
  <dcterms:created xsi:type="dcterms:W3CDTF">2026-03-06T13:46:17Z</dcterms:created>
  <dcterms:modified xsi:type="dcterms:W3CDTF">2026-04-26T05:25:36Z</dcterms:modified>
</cp:coreProperties>
</file>