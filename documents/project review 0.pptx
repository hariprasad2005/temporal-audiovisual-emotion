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73" r:id="rId4"/>
    <p:sldId id="259" r:id="rId5"/>
    <p:sldId id="260" r:id="rId6"/>
    <p:sldId id="261" r:id="rId7"/>
    <p:sldId id="272" r:id="rId8"/>
    <p:sldId id="269"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80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7139-26A3-E931-D1F4-FA9C4830B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12432-D079-217B-4DF9-3F870673E4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CAD62-1BFC-0164-6265-ABA38A320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AE94F-8776-5C12-6381-C1FD9FEA877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1800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693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73152" y="1099742"/>
            <a:ext cx="1280160" cy="320040"/>
          </a:xfrm>
          <a:prstGeom prst="rect">
            <a:avLst/>
          </a:prstGeom>
          <a:noFill/>
          <a:ln/>
        </p:spPr>
        <p:txBody>
          <a:bodyPr wrap="square" lIns="0" tIns="0" rIns="0" bIns="0" rtlCol="0" anchor="ctr"/>
          <a:lstStyle/>
          <a:p>
            <a:pPr marL="0" indent="0" algn="ctr">
              <a:buNone/>
            </a:pPr>
            <a:r>
              <a:rPr lang="en-US" sz="1400" b="1" dirty="0">
                <a:solidFill>
                  <a:srgbClr val="FFFFFF"/>
                </a:solidFill>
              </a:rPr>
              <a:t>REVIEW 1</a:t>
            </a:r>
            <a:endParaRPr lang="en-US" sz="1400" dirty="0"/>
          </a:p>
        </p:txBody>
      </p:sp>
      <p:sp>
        <p:nvSpPr>
          <p:cNvPr id="6" name="Text 4"/>
          <p:cNvSpPr/>
          <p:nvPr/>
        </p:nvSpPr>
        <p:spPr>
          <a:xfrm>
            <a:off x="562707" y="1770477"/>
            <a:ext cx="8503920" cy="1970924"/>
          </a:xfrm>
          <a:prstGeom prst="rect">
            <a:avLst/>
          </a:prstGeom>
          <a:noFill/>
          <a:ln/>
        </p:spPr>
        <p:txBody>
          <a:bodyPr wrap="square" rtlCol="0" anchor="ctr"/>
          <a:lstStyle/>
          <a:p>
            <a:r>
              <a:rPr lang="en-US" sz="3000" b="1" dirty="0">
                <a:latin typeface="Times New Roman" panose="02020603050405020304" pitchFamily="18" charset="0"/>
                <a:ea typeface="Calibri" pitchFamily="34" charset="-122"/>
                <a:cs typeface="Times New Roman" panose="02020603050405020304" pitchFamily="18" charset="0"/>
              </a:rPr>
              <a:t>Temporal Facial Dynamics–Driven Audio-Visual Emotion Recognition Using Vision Transformers</a:t>
            </a:r>
            <a:endParaRPr lang="en-US" sz="3000" b="1" dirty="0">
              <a:latin typeface="Times New Roman" panose="02020603050405020304" pitchFamily="18" charset="0"/>
              <a:cs typeface="Times New Roman" panose="02020603050405020304" pitchFamily="18" charset="0"/>
            </a:endParaRPr>
          </a:p>
          <a:p>
            <a:endParaRPr lang="en-US" sz="3000" dirty="0"/>
          </a:p>
          <a:p>
            <a:pPr marL="0" indent="0">
              <a:buNone/>
            </a:pPr>
            <a:r>
              <a:rPr lang="en-US" sz="3000" b="1" dirty="0">
                <a:latin typeface="Calibri" pitchFamily="34" charset="0"/>
                <a:ea typeface="Calibri" pitchFamily="34" charset="-122"/>
                <a:cs typeface="Calibri" pitchFamily="34" charset="-120"/>
              </a:rPr>
              <a:t> </a:t>
            </a:r>
            <a:endParaRPr lang="en-US" sz="3000" dirty="0"/>
          </a:p>
        </p:txBody>
      </p:sp>
      <p:sp>
        <p:nvSpPr>
          <p:cNvPr id="7" name="Text 5"/>
          <p:cNvSpPr/>
          <p:nvPr/>
        </p:nvSpPr>
        <p:spPr>
          <a:xfrm>
            <a:off x="365760" y="2058610"/>
            <a:ext cx="8503920" cy="594360"/>
          </a:xfrm>
          <a:prstGeom prst="rect">
            <a:avLst/>
          </a:prstGeom>
          <a:noFill/>
          <a:ln/>
        </p:spPr>
        <p:txBody>
          <a:bodyPr wrap="square" rtlCol="0" anchor="ctr"/>
          <a:lstStyle/>
          <a:p>
            <a:pPr marL="0" indent="0">
              <a:buNone/>
            </a:pPr>
            <a:endParaRPr lang="en-US" sz="3000" dirty="0"/>
          </a:p>
        </p:txBody>
      </p:sp>
      <p:sp>
        <p:nvSpPr>
          <p:cNvPr id="8" name="Text 6"/>
          <p:cNvSpPr/>
          <p:nvPr/>
        </p:nvSpPr>
        <p:spPr>
          <a:xfrm>
            <a:off x="365760" y="2608326"/>
            <a:ext cx="8503920" cy="457200"/>
          </a:xfrm>
          <a:prstGeom prst="rect">
            <a:avLst/>
          </a:prstGeom>
          <a:noFill/>
          <a:ln/>
        </p:spPr>
        <p:txBody>
          <a:bodyPr wrap="square" rtlCol="0" anchor="ctr"/>
          <a:lstStyle/>
          <a:p>
            <a:pPr marL="0" indent="0">
              <a:buNone/>
            </a:pPr>
            <a:endParaRPr lang="en-US" sz="3000" b="1" dirty="0"/>
          </a:p>
        </p:txBody>
      </p:sp>
      <p:sp>
        <p:nvSpPr>
          <p:cNvPr id="9" name="Text 7"/>
          <p:cNvSpPr/>
          <p:nvPr/>
        </p:nvSpPr>
        <p:spPr>
          <a:xfrm>
            <a:off x="426954" y="3452605"/>
            <a:ext cx="8503920" cy="880441"/>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GUIDE:                                                                                             TEAM MEMBERS:</a:t>
            </a:r>
          </a:p>
          <a:p>
            <a:pPr marL="0" indent="0">
              <a:lnSpc>
                <a:spcPct val="150000"/>
              </a:lnSpc>
              <a:buNone/>
            </a:pPr>
            <a:r>
              <a:rPr lang="en-US" sz="1600" b="1" dirty="0">
                <a:latin typeface="Times New Roman" panose="02020603050405020304" pitchFamily="18" charset="0"/>
                <a:ea typeface="Calibri" pitchFamily="34" charset="-122"/>
                <a:cs typeface="Times New Roman" panose="02020603050405020304" pitchFamily="18" charset="0"/>
              </a:rPr>
              <a:t>    Mrs. E. Padma AP/CSE                                                                  </a:t>
            </a:r>
            <a:r>
              <a:rPr lang="en-US" sz="1400" b="1" dirty="0">
                <a:latin typeface="Times New Roman" panose="02020603050405020304" pitchFamily="18" charset="0"/>
                <a:ea typeface="Calibri" pitchFamily="34" charset="-122"/>
                <a:cs typeface="Times New Roman" panose="02020603050405020304" pitchFamily="18" charset="0"/>
              </a:rPr>
              <a:t>Chanthuru S R (22CS013)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Hariprasad M (22CS030)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Mohana Prasath G (22CS050)</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65760" y="4124140"/>
            <a:ext cx="8503920" cy="548640"/>
          </a:xfrm>
          <a:prstGeom prst="rect">
            <a:avLst/>
          </a:prstGeom>
          <a:noFill/>
          <a:ln/>
        </p:spPr>
        <p:txBody>
          <a:bodyPr wrap="square" rtlCol="0" anchor="ctr"/>
          <a:lstStyle/>
          <a:p>
            <a:pPr marL="0" indent="0">
              <a:buNone/>
            </a:pPr>
            <a:endParaRPr lang="en-US" sz="1400" dirty="0"/>
          </a:p>
        </p:txBody>
      </p:sp>
      <p:sp>
        <p:nvSpPr>
          <p:cNvPr id="14" name="TextBox 13">
            <a:extLst>
              <a:ext uri="{FF2B5EF4-FFF2-40B4-BE49-F238E27FC236}">
                <a16:creationId xmlns:a16="http://schemas.microsoft.com/office/drawing/2014/main" id="{E73E66E9-2111-677F-D5A1-D7156B14D801}"/>
              </a:ext>
            </a:extLst>
          </p:cNvPr>
          <p:cNvSpPr txBox="1"/>
          <p:nvPr/>
        </p:nvSpPr>
        <p:spPr>
          <a:xfrm>
            <a:off x="1275793" y="255599"/>
            <a:ext cx="7725419" cy="769441"/>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NANDHA ENGINEERING COLLEGE</a:t>
            </a:r>
          </a:p>
          <a:p>
            <a:pPr algn="ctr"/>
            <a:r>
              <a:rPr lang="en-US" sz="2000" b="1" dirty="0">
                <a:latin typeface="Times New Roman" panose="02020603050405020304" pitchFamily="18" charset="0"/>
                <a:cs typeface="Times New Roman" panose="02020603050405020304" pitchFamily="18" charset="0"/>
              </a:rPr>
              <a:t>DEPARTMENT OF COMPUTER SCIENCE AND ENGINEERING</a:t>
            </a:r>
            <a:endParaRPr lang="en-IN" sz="2000" b="1" dirty="0">
              <a:latin typeface="Times New Roman" panose="02020603050405020304" pitchFamily="18" charset="0"/>
              <a:cs typeface="Times New Roman" panose="02020603050405020304" pitchFamily="18" charset="0"/>
            </a:endParaRPr>
          </a:p>
        </p:txBody>
      </p:sp>
      <p:pic>
        <p:nvPicPr>
          <p:cNvPr id="13" name="Picture 12" descr="A black and white logo">
            <a:extLst>
              <a:ext uri="{FF2B5EF4-FFF2-40B4-BE49-F238E27FC236}">
                <a16:creationId xmlns:a16="http://schemas.microsoft.com/office/drawing/2014/main" id="{000A59CE-60D8-D3A1-B507-1E6D57F40E6C}"/>
              </a:ext>
            </a:extLst>
          </p:cNvPr>
          <p:cNvPicPr>
            <a:picLocks noChangeAspect="1"/>
          </p:cNvPicPr>
          <p:nvPr/>
        </p:nvPicPr>
        <p:blipFill>
          <a:blip r:embed="rId3"/>
          <a:stretch>
            <a:fillRect/>
          </a:stretch>
        </p:blipFill>
        <p:spPr>
          <a:xfrm>
            <a:off x="73152" y="259769"/>
            <a:ext cx="1280160" cy="873859"/>
          </a:xfrm>
          <a:prstGeom prst="rect">
            <a:avLst/>
          </a:prstGeom>
        </p:spPr>
      </p:pic>
      <p:sp>
        <p:nvSpPr>
          <p:cNvPr id="2" name="TextBox 1">
            <a:extLst>
              <a:ext uri="{FF2B5EF4-FFF2-40B4-BE49-F238E27FC236}">
                <a16:creationId xmlns:a16="http://schemas.microsoft.com/office/drawing/2014/main" id="{29BA44AA-FB4B-8FE7-BCDB-628C5DA0864E}"/>
              </a:ext>
            </a:extLst>
          </p:cNvPr>
          <p:cNvSpPr txBox="1"/>
          <p:nvPr/>
        </p:nvSpPr>
        <p:spPr>
          <a:xfrm>
            <a:off x="3560532" y="1096616"/>
            <a:ext cx="2236763"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ZEROTH REVIEW</a:t>
            </a:r>
          </a:p>
          <a:p>
            <a:r>
              <a:rPr lang="en-US" b="1" dirty="0">
                <a:latin typeface="Times New Roman" panose="02020603050405020304" pitchFamily="18" charset="0"/>
                <a:cs typeface="Times New Roman" panose="02020603050405020304" pitchFamily="18" charset="0"/>
              </a:rPr>
              <a:t>         27/01/2026</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48251"/>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ABSTRACT</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88620" y="1211580"/>
            <a:ext cx="8366760" cy="320040"/>
          </a:xfrm>
          <a:prstGeom prst="rect">
            <a:avLst/>
          </a:prstGeom>
          <a:noFill/>
          <a:ln/>
        </p:spPr>
        <p:txBody>
          <a:bodyPr wrap="square" rtlCol="0" anchor="ctr"/>
          <a:lstStyle/>
          <a:p>
            <a:pPr marL="0" indent="0">
              <a:buNone/>
            </a:pP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88620" y="1138042"/>
            <a:ext cx="8366760" cy="3429669"/>
          </a:xfrm>
          <a:prstGeom prst="rect">
            <a:avLst/>
          </a:prstGeom>
          <a:noFill/>
          <a:ln/>
        </p:spPr>
        <p:txBody>
          <a:bodyPr wrap="square" rtlCol="0" anchor="t"/>
          <a:lstStyle/>
          <a:p>
            <a:pPr marL="0" indent="0" algn="just">
              <a:buNone/>
            </a:pPr>
            <a:r>
              <a:rPr lang="en-US" sz="1600" dirty="0">
                <a:latin typeface="Calibri" pitchFamily="34" charset="0"/>
                <a:ea typeface="Calibri" pitchFamily="34" charset="-122"/>
                <a:cs typeface="Calibri" pitchFamily="34" charset="-120"/>
              </a:rPr>
              <a:t>	</a:t>
            </a:r>
            <a:r>
              <a:rPr lang="en-US" sz="1600" dirty="0">
                <a:latin typeface="Times New Roman" panose="02020603050405020304" pitchFamily="18" charset="0"/>
                <a:ea typeface="Calibri" pitchFamily="34" charset="-122"/>
                <a:cs typeface="Times New Roman" panose="02020603050405020304" pitchFamily="18" charset="0"/>
              </a:rPr>
              <a:t>Emotion recognition is a key component of affective computing, enabling intelligent interaction in healthcare, education, and human-computer interaction. Many existing facial emotion recognition methods rely on static representations from a single frame, failing to capture how expressions evolve over time.</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This work proposes a Temporal Facial Dynamic-Driven Audio-Visual Emotion Recognition framework that uniformly samples multiple facial frames from video sequences</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encodes each frame using a Vision Transformer (DINOv2)</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aggregates frame-level embeddings via temporal average pooling</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fuses visual features with Wav2Vec 2.0 speech embeddings</a:t>
            </a:r>
            <a:r>
              <a:rPr lang="en-US" sz="1600" dirty="0">
                <a:latin typeface="Times New Roman" panose="02020603050405020304" pitchFamily="18" charset="0"/>
                <a:cs typeface="Times New Roman" panose="02020603050405020304" pitchFamily="18" charset="0"/>
              </a:rPr>
              <a:t> and </a:t>
            </a:r>
            <a:r>
              <a:rPr lang="en-US" sz="1600" dirty="0">
                <a:latin typeface="Times New Roman" panose="02020603050405020304" pitchFamily="18" charset="0"/>
                <a:ea typeface="Calibri" pitchFamily="34" charset="-122"/>
                <a:cs typeface="Times New Roman" panose="02020603050405020304" pitchFamily="18" charset="0"/>
              </a:rPr>
              <a:t>uses a transformer-based fusion network for emotion classification.</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60D7A-1F66-0D76-CD7A-28551E23E61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7864E83-F1D7-44E1-3845-6FF886879626}"/>
              </a:ext>
            </a:extLst>
          </p:cNvPr>
          <p:cNvSpPr/>
          <p:nvPr/>
        </p:nvSpPr>
        <p:spPr>
          <a:xfrm>
            <a:off x="274320" y="48251"/>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LITERATURE SURVEY</a:t>
            </a:r>
            <a:endParaRPr lang="en-US" sz="22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825F44AC-7D70-16D4-84B8-7D1DD5D55FDE}"/>
              </a:ext>
            </a:extLst>
          </p:cNvPr>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a:extLst>
              <a:ext uri="{FF2B5EF4-FFF2-40B4-BE49-F238E27FC236}">
                <a16:creationId xmlns:a16="http://schemas.microsoft.com/office/drawing/2014/main" id="{EC21B450-113F-D96A-68DA-FBFFA4F9A6B8}"/>
              </a:ext>
            </a:extLst>
          </p:cNvPr>
          <p:cNvSpPr/>
          <p:nvPr/>
        </p:nvSpPr>
        <p:spPr>
          <a:xfrm>
            <a:off x="388620" y="1211580"/>
            <a:ext cx="8366760" cy="320040"/>
          </a:xfrm>
          <a:prstGeom prst="rect">
            <a:avLst/>
          </a:prstGeom>
          <a:noFill/>
          <a:ln/>
        </p:spPr>
        <p:txBody>
          <a:bodyPr wrap="square" rtlCol="0" anchor="ctr"/>
          <a:lstStyle/>
          <a:p>
            <a:pPr marL="0" indent="0">
              <a:buNone/>
            </a:pPr>
            <a:endParaRPr lang="en-US" sz="1600" i="1"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14723998-3D9C-EC5E-0264-B06934CA6007}"/>
              </a:ext>
            </a:extLst>
          </p:cNvPr>
          <p:cNvSpPr/>
          <p:nvPr/>
        </p:nvSpPr>
        <p:spPr>
          <a:xfrm>
            <a:off x="274320" y="1060669"/>
            <a:ext cx="8366760" cy="3429669"/>
          </a:xfrm>
          <a:prstGeom prst="rect">
            <a:avLst/>
          </a:prstGeom>
          <a:noFill/>
          <a:ln/>
        </p:spPr>
        <p:txBody>
          <a:bodyPr wrap="square" rtlCol="0" anchor="t"/>
          <a:lstStyle/>
          <a:p>
            <a:pPr algn="just"/>
            <a:r>
              <a:rPr lang="en-US" altLang="en-US" sz="1600" dirty="0">
                <a:latin typeface="Times New Roman" panose="02020603050405020304" pitchFamily="18" charset="0"/>
                <a:cs typeface="Times New Roman" panose="02020603050405020304" pitchFamily="18" charset="0"/>
              </a:rPr>
              <a:t>               The Emotion recognition, focusing on both speech and facial modalities along with multimodal fusion approaches. Speech Emotion Recognition using Wav2Vec 2.0 leverages contextualized representations from raw audio, enhanced by attention-based fusion and noise-robust techniques for improved performance across datasets. Facial Emotion Recognition with DINOv2 uses a self-supervised vision transformer to extract strong facial features without task-specific supervision, making it effective even in low-resource and cross-cultural scenarios. Additionally, multimodal fusion architectures such as </a:t>
            </a:r>
            <a:r>
              <a:rPr lang="en-US" altLang="en-US" sz="1600" dirty="0" err="1">
                <a:latin typeface="Times New Roman" panose="02020603050405020304" pitchFamily="18" charset="0"/>
                <a:cs typeface="Times New Roman" panose="02020603050405020304" pitchFamily="18" charset="0"/>
              </a:rPr>
              <a:t>DualGAT</a:t>
            </a:r>
            <a:r>
              <a:rPr lang="en-US" altLang="en-US" sz="1600" dirty="0">
                <a:latin typeface="Times New Roman" panose="02020603050405020304" pitchFamily="18" charset="0"/>
                <a:cs typeface="Times New Roman" panose="02020603050405020304" pitchFamily="18" charset="0"/>
              </a:rPr>
              <a:t>, MERT, CLIP-based alignment, capsule networks, and hybrid CNN-RNN models consistently outperform unimodal systems by integrating multiple data sources. However, a key research gap remains in temporal modeling, as most systems rely on static facial representations, while capturing the dynamic nature of facial expressions is essential for accurately distinguishing similar emotions like neutral and sad.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46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6858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HARDWARE / SOFTWARE SPECIFICATIONS</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987552"/>
            <a:ext cx="393192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Hardware Requirements</a:t>
            </a:r>
            <a:endParaRPr lang="en-US" sz="1400" i="1" dirty="0">
              <a:latin typeface="Times New Roman" panose="02020603050405020304" pitchFamily="18" charset="0"/>
              <a:cs typeface="Times New Roman" panose="02020603050405020304" pitchFamily="18" charset="0"/>
            </a:endParaRPr>
          </a:p>
        </p:txBody>
      </p:sp>
      <p:sp>
        <p:nvSpPr>
          <p:cNvPr id="10" name="Text 8"/>
          <p:cNvSpPr/>
          <p:nvPr/>
        </p:nvSpPr>
        <p:spPr>
          <a:xfrm>
            <a:off x="411480" y="1389888"/>
            <a:ext cx="3749040" cy="2834640"/>
          </a:xfrm>
          <a:prstGeom prst="rect">
            <a:avLst/>
          </a:prstGeom>
          <a:noFill/>
          <a:ln/>
        </p:spPr>
        <p:txBody>
          <a:bodyPr wrap="square" rtlCol="0" anchor="t"/>
          <a:lstStyle/>
          <a:p>
            <a:pPr marL="0" indent="0" algn="just">
              <a:buNone/>
            </a:pP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Processor: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Multi-core CPU (Intel Core i7 or equivalent)</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GPU: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RTX 4060 (8 GB)</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RAM: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16 GB</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Storage: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SSD with 30+ GB free space</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Camera / Microphone: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Required for real-time deployment scenarios</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892040" y="987552"/>
            <a:ext cx="393192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Software Requirements</a:t>
            </a:r>
            <a:endParaRPr lang="en-US" sz="1300" i="1" dirty="0">
              <a:latin typeface="Times New Roman" panose="02020603050405020304" pitchFamily="18" charset="0"/>
              <a:cs typeface="Times New Roman" panose="02020603050405020304" pitchFamily="18" charset="0"/>
            </a:endParaRPr>
          </a:p>
        </p:txBody>
      </p:sp>
      <p:sp>
        <p:nvSpPr>
          <p:cNvPr id="14" name="Text 12"/>
          <p:cNvSpPr/>
          <p:nvPr/>
        </p:nvSpPr>
        <p:spPr>
          <a:xfrm>
            <a:off x="4937760" y="1389888"/>
            <a:ext cx="3749040" cy="2834640"/>
          </a:xfrm>
          <a:prstGeom prst="rect">
            <a:avLst/>
          </a:prstGeom>
          <a:noFill/>
          <a:ln/>
        </p:spPr>
        <p:txBody>
          <a:bodyPr wrap="square" rtlCol="0" anchor="t"/>
          <a:lstStyle/>
          <a:p>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Language: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Python 3.8+</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Deep Learning: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PyTorch, CUDA 11.2</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Vision Model: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DINOv2 (Self-Supervised Vision Transformer)</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Audio Model: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Wav2Vec 2.0 (Self-Supervised Speech Model)</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Face Detection: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MTCNN</a:t>
            </a:r>
            <a:r>
              <a:rPr lang="en-US" sz="1400" dirty="0">
                <a:latin typeface="Times New Roman" panose="02020603050405020304" pitchFamily="18" charset="0"/>
                <a:cs typeface="Times New Roman" panose="02020603050405020304" pitchFamily="18" charset="0"/>
              </a:rPr>
              <a:t> (Multi-task Cascaded Convolutional Neural Network)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3939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EXISTING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b="1" dirty="0">
              <a:solidFill>
                <a:srgbClr val="FFFFFF"/>
              </a:solidFill>
            </a:endParaRPr>
          </a:p>
        </p:txBody>
      </p:sp>
      <p:sp>
        <p:nvSpPr>
          <p:cNvPr id="9" name="Text 7"/>
          <p:cNvSpPr/>
          <p:nvPr/>
        </p:nvSpPr>
        <p:spPr>
          <a:xfrm>
            <a:off x="365760" y="987552"/>
            <a:ext cx="8458200" cy="320040"/>
          </a:xfrm>
          <a:prstGeom prst="rect">
            <a:avLst/>
          </a:prstGeom>
          <a:noFill/>
          <a:ln/>
        </p:spPr>
        <p:txBody>
          <a:bodyPr wrap="square" rtlCol="0" anchor="ctr"/>
          <a:lstStyle/>
          <a:p>
            <a:pPr marL="0" indent="0">
              <a:buNone/>
            </a:pPr>
            <a:r>
              <a:rPr lang="en-US" sz="1600" b="1" i="1" dirty="0">
                <a:latin typeface="Times New Roman" panose="02020603050405020304" pitchFamily="18" charset="0"/>
                <a:ea typeface="Calibri" pitchFamily="34" charset="-122"/>
                <a:cs typeface="Times New Roman" panose="02020603050405020304" pitchFamily="18" charset="0"/>
              </a:rPr>
              <a:t>Current Approach</a:t>
            </a: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65760" y="1298448"/>
            <a:ext cx="8458200" cy="713232"/>
          </a:xfrm>
          <a:prstGeom prst="rect">
            <a:avLst/>
          </a:prstGeom>
          <a:noFill/>
          <a:ln/>
        </p:spPr>
        <p:txBody>
          <a:bodyPr wrap="square" rtlCol="0" anchor="t"/>
          <a:lstStyle/>
          <a:p>
            <a:pPr marL="0" indent="0" algn="just">
              <a:buNone/>
            </a:pPr>
            <a:r>
              <a:rPr lang="en-US" sz="1400" dirty="0">
                <a:latin typeface="Times New Roman" panose="02020603050405020304" pitchFamily="18" charset="0"/>
                <a:ea typeface="Calibri" pitchFamily="34" charset="-122"/>
                <a:cs typeface="Times New Roman" panose="02020603050405020304" pitchFamily="18" charset="0"/>
              </a:rPr>
              <a:t>Most existing audio-visual emotion recognition systems process facial data as static patterns — extracting features from a single video frame — completely ignoring the temporal evolution of facial expressions.</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228600" y="2286000"/>
            <a:ext cx="4206240" cy="118872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sp>
      <p:sp>
        <p:nvSpPr>
          <p:cNvPr id="13" name="Text 11"/>
          <p:cNvSpPr/>
          <p:nvPr/>
        </p:nvSpPr>
        <p:spPr>
          <a:xfrm>
            <a:off x="365760" y="23591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Static Frame Analysis</a:t>
            </a:r>
            <a:endParaRPr lang="en-US" sz="1400" i="1" dirty="0">
              <a:latin typeface="Times New Roman" panose="02020603050405020304" pitchFamily="18" charset="0"/>
              <a:cs typeface="Times New Roman" panose="02020603050405020304" pitchFamily="18" charset="0"/>
            </a:endParaRPr>
          </a:p>
        </p:txBody>
      </p:sp>
      <p:sp>
        <p:nvSpPr>
          <p:cNvPr id="14" name="Text 12"/>
          <p:cNvSpPr/>
          <p:nvPr/>
        </p:nvSpPr>
        <p:spPr>
          <a:xfrm>
            <a:off x="365760" y="2670048"/>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Only one frame per video is used, failing to capture micro-expressions and gradual emotional transitions over time.</a:t>
            </a:r>
            <a:endParaRPr lang="en-US" sz="1400" dirty="0">
              <a:latin typeface="Times New Roman" panose="02020603050405020304" pitchFamily="18" charset="0"/>
              <a:cs typeface="Times New Roman" panose="02020603050405020304" pitchFamily="18" charset="0"/>
            </a:endParaRPr>
          </a:p>
        </p:txBody>
      </p:sp>
      <p:sp>
        <p:nvSpPr>
          <p:cNvPr id="15" name="Shape 13"/>
          <p:cNvSpPr/>
          <p:nvPr/>
        </p:nvSpPr>
        <p:spPr>
          <a:xfrm>
            <a:off x="4663440" y="2286000"/>
            <a:ext cx="4206240" cy="118872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sp>
      <p:sp>
        <p:nvSpPr>
          <p:cNvPr id="17" name="Text 15"/>
          <p:cNvSpPr/>
          <p:nvPr/>
        </p:nvSpPr>
        <p:spPr>
          <a:xfrm>
            <a:off x="4800600" y="23591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Dynamics Ignored</a:t>
            </a:r>
            <a:endParaRPr lang="en-US" sz="1400" i="1" dirty="0">
              <a:latin typeface="Times New Roman" panose="02020603050405020304" pitchFamily="18" charset="0"/>
              <a:cs typeface="Times New Roman" panose="02020603050405020304" pitchFamily="18" charset="0"/>
            </a:endParaRPr>
          </a:p>
        </p:txBody>
      </p:sp>
      <p:sp>
        <p:nvSpPr>
          <p:cNvPr id="18" name="Text 16"/>
          <p:cNvSpPr/>
          <p:nvPr/>
        </p:nvSpPr>
        <p:spPr>
          <a:xfrm>
            <a:off x="4800600" y="2670048"/>
            <a:ext cx="3977640" cy="713232"/>
          </a:xfrm>
          <a:prstGeom prst="rect">
            <a:avLst/>
          </a:prstGeom>
          <a:noFill/>
          <a:ln/>
        </p:spPr>
        <p:txBody>
          <a:bodyPr wrap="square" rtlCol="0" anchor="t"/>
          <a:lstStyle/>
          <a:p>
            <a:pPr marL="0" indent="0">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Emotions evolve through subtle muscle movements; static methods miss the dynamic nature of affective states.</a:t>
            </a:r>
            <a:endParaRPr lang="en-US" sz="1400" dirty="0">
              <a:latin typeface="Times New Roman" panose="02020603050405020304" pitchFamily="18" charset="0"/>
              <a:cs typeface="Times New Roman" panose="02020603050405020304" pitchFamily="18" charset="0"/>
            </a:endParaRPr>
          </a:p>
        </p:txBody>
      </p:sp>
      <p:sp>
        <p:nvSpPr>
          <p:cNvPr id="19" name="Shape 17"/>
          <p:cNvSpPr/>
          <p:nvPr/>
        </p:nvSpPr>
        <p:spPr>
          <a:xfrm>
            <a:off x="228600" y="3611880"/>
            <a:ext cx="4206240" cy="118872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sp>
      <p:sp>
        <p:nvSpPr>
          <p:cNvPr id="21" name="Text 19"/>
          <p:cNvSpPr/>
          <p:nvPr/>
        </p:nvSpPr>
        <p:spPr>
          <a:xfrm>
            <a:off x="365760" y="368503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Misclassification Risk</a:t>
            </a:r>
            <a:endParaRPr lang="en-US" sz="1400" i="1" dirty="0">
              <a:latin typeface="Times New Roman" panose="02020603050405020304" pitchFamily="18" charset="0"/>
              <a:cs typeface="Times New Roman" panose="02020603050405020304" pitchFamily="18" charset="0"/>
            </a:endParaRPr>
          </a:p>
        </p:txBody>
      </p:sp>
      <p:sp>
        <p:nvSpPr>
          <p:cNvPr id="22" name="Text 20"/>
          <p:cNvSpPr/>
          <p:nvPr/>
        </p:nvSpPr>
        <p:spPr>
          <a:xfrm>
            <a:off x="365760" y="3995928"/>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Similar static appearances of emotions like 'neutral' and 'sad' lead to high confusion rates in single-frame systems.</a:t>
            </a:r>
            <a:endParaRPr lang="en-US" sz="1400" dirty="0">
              <a:latin typeface="Times New Roman" panose="02020603050405020304" pitchFamily="18" charset="0"/>
              <a:cs typeface="Times New Roman" panose="02020603050405020304" pitchFamily="18" charset="0"/>
            </a:endParaRPr>
          </a:p>
        </p:txBody>
      </p:sp>
      <p:sp>
        <p:nvSpPr>
          <p:cNvPr id="23" name="Shape 21"/>
          <p:cNvSpPr/>
          <p:nvPr/>
        </p:nvSpPr>
        <p:spPr>
          <a:xfrm>
            <a:off x="4663440" y="3611880"/>
            <a:ext cx="4206240" cy="118872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sp>
      <p:sp>
        <p:nvSpPr>
          <p:cNvPr id="25" name="Text 23"/>
          <p:cNvSpPr/>
          <p:nvPr/>
        </p:nvSpPr>
        <p:spPr>
          <a:xfrm>
            <a:off x="4800600" y="368503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Incomplete Multimodal Fusion</a:t>
            </a:r>
            <a:endParaRPr lang="en-US" sz="1400" i="1" dirty="0">
              <a:latin typeface="Times New Roman" panose="02020603050405020304" pitchFamily="18" charset="0"/>
              <a:cs typeface="Times New Roman" panose="02020603050405020304" pitchFamily="18" charset="0"/>
            </a:endParaRPr>
          </a:p>
        </p:txBody>
      </p:sp>
      <p:sp>
        <p:nvSpPr>
          <p:cNvPr id="26" name="Text 24"/>
          <p:cNvSpPr/>
          <p:nvPr/>
        </p:nvSpPr>
        <p:spPr>
          <a:xfrm>
            <a:off x="4800600" y="3995928"/>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Audio-visual systems without temporal facial modeling underperform; missing expression dynamics reduces overall accuracy.</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70866"/>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PROPOSED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06324" y="932688"/>
            <a:ext cx="8458200" cy="4119372"/>
          </a:xfrm>
          <a:prstGeom prst="rect">
            <a:avLst/>
          </a:prstGeom>
          <a:noFill/>
          <a:ln/>
        </p:spPr>
        <p:txBody>
          <a:bodyPr wrap="square" rtlCol="0" anchor="t"/>
          <a:lstStyle/>
          <a:p>
            <a:pPr lvl="0" algn="just"/>
            <a:r>
              <a:rPr lang="en-IN" sz="1600" dirty="0">
                <a:latin typeface="Times New Roman" panose="02020603050405020304" pitchFamily="18" charset="0"/>
                <a:cs typeface="Times New Roman" panose="02020603050405020304" pitchFamily="18" charset="0"/>
              </a:rPr>
              <a:t>      It captures facial expression changes over time instead of relying on a single static image. Multiple frames are extracted from video to represent emotion progression. Each frame is processed using a Vision Transformer to obtain visual features. These features are combined to form a temporal representation of facial emotions and audio signals are processed using a self-supervised speech model. The system extracts important speech features like tone, pitch, and emotion cues. Audio and visual features are fused together for better understanding. A transformer-based fusion model learns relationships between both modalities. The final output is accurate emotion classification. This approach improves performance by using both temporal facial data and audio signals. </a:t>
            </a:r>
          </a:p>
        </p:txBody>
      </p:sp>
      <p:sp>
        <p:nvSpPr>
          <p:cNvPr id="12" name="Text 10"/>
          <p:cNvSpPr/>
          <p:nvPr/>
        </p:nvSpPr>
        <p:spPr>
          <a:xfrm>
            <a:off x="30175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4" name="Text 12"/>
          <p:cNvSpPr/>
          <p:nvPr/>
        </p:nvSpPr>
        <p:spPr>
          <a:xfrm>
            <a:off x="338328" y="2286000"/>
            <a:ext cx="2633472" cy="749808"/>
          </a:xfrm>
          <a:prstGeom prst="rect">
            <a:avLst/>
          </a:prstGeom>
          <a:noFill/>
          <a:ln/>
        </p:spPr>
        <p:txBody>
          <a:bodyPr wrap="square" rtlCol="0" anchor="t"/>
          <a:lstStyle/>
          <a:p>
            <a:pPr marL="0" indent="0" algn="just">
              <a:buNone/>
            </a:pPr>
            <a:endParaRPr lang="en-US" sz="1400" dirty="0"/>
          </a:p>
        </p:txBody>
      </p:sp>
      <p:sp>
        <p:nvSpPr>
          <p:cNvPr id="17" name="Text 15"/>
          <p:cNvSpPr/>
          <p:nvPr/>
        </p:nvSpPr>
        <p:spPr>
          <a:xfrm>
            <a:off x="322783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8" name="Text 16"/>
          <p:cNvSpPr/>
          <p:nvPr/>
        </p:nvSpPr>
        <p:spPr>
          <a:xfrm>
            <a:off x="3648456" y="1920240"/>
            <a:ext cx="2176272" cy="292608"/>
          </a:xfrm>
          <a:prstGeom prst="rect">
            <a:avLst/>
          </a:prstGeom>
          <a:noFill/>
          <a:ln/>
        </p:spPr>
        <p:txBody>
          <a:bodyPr wrap="square" rtlCol="0" anchor="ctr"/>
          <a:lstStyle/>
          <a:p>
            <a:pPr marL="0" indent="0">
              <a:buNone/>
            </a:pPr>
            <a:endParaRPr lang="en-US" sz="1400" dirty="0"/>
          </a:p>
        </p:txBody>
      </p:sp>
      <p:sp>
        <p:nvSpPr>
          <p:cNvPr id="19" name="Text 17"/>
          <p:cNvSpPr/>
          <p:nvPr/>
        </p:nvSpPr>
        <p:spPr>
          <a:xfrm>
            <a:off x="3264408" y="2286000"/>
            <a:ext cx="2542032" cy="749808"/>
          </a:xfrm>
          <a:prstGeom prst="rect">
            <a:avLst/>
          </a:prstGeom>
          <a:noFill/>
          <a:ln/>
        </p:spPr>
        <p:txBody>
          <a:bodyPr wrap="square" rtlCol="0" anchor="t"/>
          <a:lstStyle/>
          <a:p>
            <a:pPr marL="0" indent="0" algn="just">
              <a:buNone/>
            </a:pPr>
            <a:endParaRPr lang="en-US" sz="1400" dirty="0"/>
          </a:p>
        </p:txBody>
      </p:sp>
      <p:sp>
        <p:nvSpPr>
          <p:cNvPr id="22" name="Text 20"/>
          <p:cNvSpPr/>
          <p:nvPr/>
        </p:nvSpPr>
        <p:spPr>
          <a:xfrm>
            <a:off x="615391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23" name="Text 21"/>
          <p:cNvSpPr/>
          <p:nvPr/>
        </p:nvSpPr>
        <p:spPr>
          <a:xfrm>
            <a:off x="6574536" y="1920240"/>
            <a:ext cx="2176272" cy="292608"/>
          </a:xfrm>
          <a:prstGeom prst="rect">
            <a:avLst/>
          </a:prstGeom>
          <a:noFill/>
          <a:ln/>
        </p:spPr>
        <p:txBody>
          <a:bodyPr wrap="square" rtlCol="0" anchor="ctr"/>
          <a:lstStyle/>
          <a:p>
            <a:pPr marL="0" indent="0">
              <a:buNone/>
            </a:pPr>
            <a:endParaRPr lang="en-US" sz="1400" dirty="0"/>
          </a:p>
        </p:txBody>
      </p:sp>
      <p:sp>
        <p:nvSpPr>
          <p:cNvPr id="24" name="Text 22"/>
          <p:cNvSpPr/>
          <p:nvPr/>
        </p:nvSpPr>
        <p:spPr>
          <a:xfrm>
            <a:off x="6190488" y="2286000"/>
            <a:ext cx="2542032" cy="749808"/>
          </a:xfrm>
          <a:prstGeom prst="rect">
            <a:avLst/>
          </a:prstGeom>
          <a:noFill/>
          <a:ln/>
        </p:spPr>
        <p:txBody>
          <a:bodyPr wrap="square" rtlCol="0" anchor="t"/>
          <a:lstStyle/>
          <a:p>
            <a:pPr marL="0" indent="0" algn="just">
              <a:buNone/>
            </a:pPr>
            <a:endParaRPr lang="en-US" sz="1400" dirty="0"/>
          </a:p>
        </p:txBody>
      </p:sp>
      <p:sp>
        <p:nvSpPr>
          <p:cNvPr id="27" name="Text 25"/>
          <p:cNvSpPr/>
          <p:nvPr/>
        </p:nvSpPr>
        <p:spPr>
          <a:xfrm>
            <a:off x="30175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28" name="Text 26"/>
          <p:cNvSpPr/>
          <p:nvPr/>
        </p:nvSpPr>
        <p:spPr>
          <a:xfrm>
            <a:off x="722376" y="3337560"/>
            <a:ext cx="2176272" cy="292608"/>
          </a:xfrm>
          <a:prstGeom prst="rect">
            <a:avLst/>
          </a:prstGeom>
          <a:noFill/>
          <a:ln/>
        </p:spPr>
        <p:txBody>
          <a:bodyPr wrap="square" rtlCol="0" anchor="ctr"/>
          <a:lstStyle/>
          <a:p>
            <a:pPr marL="0" indent="0">
              <a:buNone/>
            </a:pPr>
            <a:endParaRPr lang="en-US" sz="1400" dirty="0"/>
          </a:p>
        </p:txBody>
      </p:sp>
      <p:sp>
        <p:nvSpPr>
          <p:cNvPr id="29" name="Text 27"/>
          <p:cNvSpPr/>
          <p:nvPr/>
        </p:nvSpPr>
        <p:spPr>
          <a:xfrm>
            <a:off x="338328" y="3703320"/>
            <a:ext cx="2542032" cy="749808"/>
          </a:xfrm>
          <a:prstGeom prst="rect">
            <a:avLst/>
          </a:prstGeom>
          <a:noFill/>
          <a:ln/>
        </p:spPr>
        <p:txBody>
          <a:bodyPr wrap="square" rtlCol="0" anchor="t"/>
          <a:lstStyle/>
          <a:p>
            <a:pPr marL="0" indent="0" algn="just">
              <a:buNone/>
            </a:pPr>
            <a:endParaRPr lang="en-US" sz="1400" dirty="0">
              <a:solidFill>
                <a:srgbClr val="0D1B2A"/>
              </a:solidFill>
              <a:latin typeface="Calibri" pitchFamily="34" charset="0"/>
              <a:ea typeface="Calibri" pitchFamily="34" charset="-122"/>
              <a:cs typeface="Calibri" pitchFamily="34" charset="-120"/>
            </a:endParaRPr>
          </a:p>
        </p:txBody>
      </p:sp>
      <p:sp>
        <p:nvSpPr>
          <p:cNvPr id="32" name="Text 30"/>
          <p:cNvSpPr/>
          <p:nvPr/>
        </p:nvSpPr>
        <p:spPr>
          <a:xfrm>
            <a:off x="322783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3" name="Text 31"/>
          <p:cNvSpPr/>
          <p:nvPr/>
        </p:nvSpPr>
        <p:spPr>
          <a:xfrm>
            <a:off x="3648456" y="3337560"/>
            <a:ext cx="2176272" cy="292608"/>
          </a:xfrm>
          <a:prstGeom prst="rect">
            <a:avLst/>
          </a:prstGeom>
          <a:noFill/>
          <a:ln/>
        </p:spPr>
        <p:txBody>
          <a:bodyPr wrap="square" rtlCol="0" anchor="ctr"/>
          <a:lstStyle/>
          <a:p>
            <a:pPr marL="0" indent="0">
              <a:buNone/>
            </a:pPr>
            <a:endParaRPr lang="en-US" sz="1400" dirty="0"/>
          </a:p>
        </p:txBody>
      </p:sp>
      <p:sp>
        <p:nvSpPr>
          <p:cNvPr id="34" name="Text 32"/>
          <p:cNvSpPr/>
          <p:nvPr/>
        </p:nvSpPr>
        <p:spPr>
          <a:xfrm>
            <a:off x="3264408" y="3703320"/>
            <a:ext cx="2542032" cy="749808"/>
          </a:xfrm>
          <a:prstGeom prst="rect">
            <a:avLst/>
          </a:prstGeom>
          <a:noFill/>
          <a:ln/>
        </p:spPr>
        <p:txBody>
          <a:bodyPr wrap="square" rtlCol="0" anchor="t"/>
          <a:lstStyle/>
          <a:p>
            <a:pPr marL="0" indent="0" algn="just">
              <a:buNone/>
            </a:pPr>
            <a:endParaRPr lang="en-US" sz="1400" dirty="0"/>
          </a:p>
        </p:txBody>
      </p:sp>
      <p:sp>
        <p:nvSpPr>
          <p:cNvPr id="37" name="Text 35"/>
          <p:cNvSpPr/>
          <p:nvPr/>
        </p:nvSpPr>
        <p:spPr>
          <a:xfrm>
            <a:off x="615391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8" name="Text 36"/>
          <p:cNvSpPr/>
          <p:nvPr/>
        </p:nvSpPr>
        <p:spPr>
          <a:xfrm>
            <a:off x="6574536" y="3337560"/>
            <a:ext cx="2176272" cy="292608"/>
          </a:xfrm>
          <a:prstGeom prst="rect">
            <a:avLst/>
          </a:prstGeom>
          <a:noFill/>
          <a:ln/>
        </p:spPr>
        <p:txBody>
          <a:bodyPr wrap="square" rtlCol="0" anchor="ctr"/>
          <a:lstStyle/>
          <a:p>
            <a:pPr marL="0" indent="0">
              <a:buNone/>
            </a:pPr>
            <a:endParaRPr lang="en-US" sz="1400" dirty="0"/>
          </a:p>
        </p:txBody>
      </p:sp>
      <p:sp>
        <p:nvSpPr>
          <p:cNvPr id="39" name="Text 37"/>
          <p:cNvSpPr/>
          <p:nvPr/>
        </p:nvSpPr>
        <p:spPr>
          <a:xfrm>
            <a:off x="6190488" y="3959733"/>
            <a:ext cx="2542032" cy="563880"/>
          </a:xfrm>
          <a:prstGeom prst="rect">
            <a:avLst/>
          </a:prstGeom>
          <a:noFill/>
          <a:ln/>
        </p:spPr>
        <p:txBody>
          <a:bodyPr wrap="square" rtlCol="0" anchor="t"/>
          <a:lstStyle/>
          <a:p>
            <a:pPr marL="0" indent="0" algn="just">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182880" y="4914900"/>
            <a:ext cx="8046720" cy="201168"/>
          </a:xfrm>
          <a:prstGeom prst="rect">
            <a:avLst/>
          </a:prstGeom>
          <a:noFill/>
          <a:ln/>
        </p:spPr>
        <p:txBody>
          <a:bodyPr wrap="square" lIns="0" tIns="0" rIns="0" bIns="0" rtlCol="0" anchor="ctr"/>
          <a:lstStyle/>
          <a:p>
            <a:pPr marL="0" indent="0" algn="l">
              <a:buNone/>
            </a:pPr>
            <a:r>
              <a:rPr lang="en-US" sz="700" dirty="0">
                <a:solidFill>
                  <a:schemeClr val="bg1"/>
                </a:solidFill>
                <a:latin typeface="Calibri" pitchFamily="34" charset="0"/>
                <a:ea typeface="Calibri" pitchFamily="34" charset="-122"/>
                <a:cs typeface="Calibri" pitchFamily="34" charset="-120"/>
              </a:rPr>
              <a:t>MPCON 2026  |  Paper ID: 1571241337  |  Temporal Facial Dynamics – Driven AV Emotion Recognition</a:t>
            </a:r>
            <a:endParaRPr lang="en-US" sz="700" dirty="0">
              <a:solidFill>
                <a:schemeClr val="bg1"/>
              </a:solidFill>
            </a:endParaRPr>
          </a:p>
        </p:txBody>
      </p:sp>
      <p:sp>
        <p:nvSpPr>
          <p:cNvPr id="7" name="Text 5"/>
          <p:cNvSpPr/>
          <p:nvPr/>
        </p:nvSpPr>
        <p:spPr>
          <a:xfrm>
            <a:off x="8732520" y="4896612"/>
            <a:ext cx="256032" cy="237744"/>
          </a:xfrm>
          <a:prstGeom prst="rect">
            <a:avLst/>
          </a:prstGeom>
          <a:noFill/>
          <a:ln/>
        </p:spPr>
        <p:txBody>
          <a:bodyPr wrap="square" lIns="0" tIns="0" rIns="0" bIns="0" rtlCol="0" anchor="ctr"/>
          <a:lstStyle/>
          <a:p>
            <a:pPr marL="0" indent="0" algn="ctr">
              <a:buNone/>
            </a:pPr>
            <a:endParaRPr lang="en-US" sz="800" dirty="0"/>
          </a:p>
        </p:txBody>
      </p:sp>
      <p:sp>
        <p:nvSpPr>
          <p:cNvPr id="11" name="Text 9"/>
          <p:cNvSpPr/>
          <p:nvPr/>
        </p:nvSpPr>
        <p:spPr>
          <a:xfrm>
            <a:off x="354330" y="72588"/>
            <a:ext cx="8686800" cy="658368"/>
          </a:xfrm>
          <a:prstGeom prst="rect">
            <a:avLst/>
          </a:prstGeom>
          <a:noFill/>
          <a:ln/>
        </p:spPr>
        <p:txBody>
          <a:bodyPr wrap="square" lIns="0" tIns="0" rIns="0" bIns="0" rtlCol="0" anchor="ctr"/>
          <a:lstStyle/>
          <a:p>
            <a:pPr marL="0" indent="0" algn="l">
              <a:buNone/>
            </a:pPr>
            <a:r>
              <a:rPr lang="en-US" sz="2200" b="1" dirty="0">
                <a:latin typeface="Times New Roman" panose="02020603050405020304" pitchFamily="18" charset="0"/>
                <a:ea typeface="Calibri Light" pitchFamily="34" charset="-122"/>
                <a:cs typeface="Times New Roman" panose="02020603050405020304" pitchFamily="18" charset="0"/>
              </a:rPr>
              <a:t>REFERENCES</a:t>
            </a:r>
            <a:endParaRPr lang="en-US" sz="2200" b="1" dirty="0">
              <a:latin typeface="Times New Roman" panose="02020603050405020304" pitchFamily="18" charset="0"/>
              <a:cs typeface="Times New Roman" panose="02020603050405020304" pitchFamily="18" charset="0"/>
            </a:endParaRPr>
          </a:p>
        </p:txBody>
      </p:sp>
      <p:sp>
        <p:nvSpPr>
          <p:cNvPr id="13" name="Text 11"/>
          <p:cNvSpPr/>
          <p:nvPr/>
        </p:nvSpPr>
        <p:spPr>
          <a:xfrm>
            <a:off x="8046720" y="256032"/>
            <a:ext cx="896112" cy="201168"/>
          </a:xfrm>
          <a:prstGeom prst="rect">
            <a:avLst/>
          </a:prstGeom>
          <a:noFill/>
          <a:ln/>
        </p:spPr>
        <p:txBody>
          <a:bodyPr wrap="square" lIns="0" tIns="0" rIns="0" bIns="0" rtlCol="0" anchor="ctr"/>
          <a:lstStyle/>
          <a:p>
            <a:pPr marL="0" indent="0" algn="ctr">
              <a:buNone/>
            </a:pPr>
            <a:endParaRPr lang="en-US" sz="750" dirty="0"/>
          </a:p>
        </p:txBody>
      </p:sp>
      <p:sp>
        <p:nvSpPr>
          <p:cNvPr id="16" name="Text 14"/>
          <p:cNvSpPr/>
          <p:nvPr/>
        </p:nvSpPr>
        <p:spPr>
          <a:xfrm>
            <a:off x="201168" y="708660"/>
            <a:ext cx="457200" cy="685800"/>
          </a:xfrm>
          <a:prstGeom prst="rect">
            <a:avLst/>
          </a:prstGeom>
          <a:noFill/>
          <a:ln/>
        </p:spPr>
        <p:txBody>
          <a:bodyPr wrap="square" lIns="0" tIns="0" rIns="0" bIns="0" rtlCol="0" anchor="ctr"/>
          <a:lstStyle/>
          <a:p>
            <a:pPr marL="0" indent="0" algn="ctr">
              <a:buNone/>
            </a:pPr>
            <a:endParaRPr lang="en-US" sz="1200" dirty="0"/>
          </a:p>
        </p:txBody>
      </p:sp>
      <p:sp>
        <p:nvSpPr>
          <p:cNvPr id="17" name="Text 15"/>
          <p:cNvSpPr/>
          <p:nvPr/>
        </p:nvSpPr>
        <p:spPr>
          <a:xfrm>
            <a:off x="525780" y="841600"/>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[1] B. Nasersharif and M. Namvarpour, "Exploring the potential of Wav2Vec 2.0 for speech emotion recognition using classifier combination and attention-based feature fusion," The Journal of Supercomputing, vol. 80, no. 16, pp. 23667–23688, 2024.</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182880" y="1673352"/>
            <a:ext cx="457200" cy="685800"/>
          </a:xfrm>
          <a:prstGeom prst="rect">
            <a:avLst/>
          </a:prstGeom>
          <a:noFill/>
          <a:ln/>
        </p:spPr>
        <p:txBody>
          <a:bodyPr wrap="square" lIns="0" tIns="0" rIns="0" bIns="0" rtlCol="0" anchor="ctr"/>
          <a:lstStyle/>
          <a:p>
            <a:pPr marL="0" indent="0" algn="ctr">
              <a:buNone/>
            </a:pPr>
            <a:endParaRPr lang="en-US" sz="1200" dirty="0"/>
          </a:p>
        </p:txBody>
      </p:sp>
      <p:sp>
        <p:nvSpPr>
          <p:cNvPr id="21" name="Text 19"/>
          <p:cNvSpPr/>
          <p:nvPr/>
        </p:nvSpPr>
        <p:spPr>
          <a:xfrm>
            <a:off x="525780" y="1550964"/>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[2] C. Sun, Y. Zhou, X. Huang, J. Yang, and X. Hou, "Combining Wav2Vec 2.0 fine-tuning and ConLearnNet for speech emotion recognition," Electronics, vol. 13, no. 6, p. 1103, 2024</a:t>
            </a:r>
            <a:r>
              <a:rPr lang="en-US" sz="900" dirty="0">
                <a:latin typeface="Calibri" pitchFamily="34" charset="0"/>
                <a:ea typeface="Calibri" pitchFamily="34" charset="-122"/>
                <a:cs typeface="Calibri" pitchFamily="34" charset="-120"/>
              </a:rPr>
              <a:t>.</a:t>
            </a:r>
            <a:endParaRPr lang="en-US" sz="900" dirty="0"/>
          </a:p>
        </p:txBody>
      </p:sp>
      <p:sp>
        <p:nvSpPr>
          <p:cNvPr id="24" name="Text 22"/>
          <p:cNvSpPr/>
          <p:nvPr/>
        </p:nvSpPr>
        <p:spPr>
          <a:xfrm>
            <a:off x="182880" y="2432304"/>
            <a:ext cx="457200" cy="685800"/>
          </a:xfrm>
          <a:prstGeom prst="rect">
            <a:avLst/>
          </a:prstGeom>
          <a:noFill/>
          <a:ln/>
        </p:spPr>
        <p:txBody>
          <a:bodyPr wrap="square" lIns="0" tIns="0" rIns="0" bIns="0" rtlCol="0" anchor="ctr"/>
          <a:lstStyle/>
          <a:p>
            <a:pPr marL="0" indent="0" algn="ctr">
              <a:buNone/>
            </a:pPr>
            <a:endParaRPr lang="en-US" sz="1200" dirty="0"/>
          </a:p>
        </p:txBody>
      </p:sp>
      <p:sp>
        <p:nvSpPr>
          <p:cNvPr id="25" name="Text 23"/>
          <p:cNvSpPr/>
          <p:nvPr/>
        </p:nvSpPr>
        <p:spPr>
          <a:xfrm>
            <a:off x="525780" y="218432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[3] B. T. Atmaja and A. Sasou, "Evaluating self-supervised speech representations for speech emotion recognition," IEEE Access, vol. 10, pp. 124396–124407, 2022.</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82880" y="3191256"/>
            <a:ext cx="457200" cy="685800"/>
          </a:xfrm>
          <a:prstGeom prst="rect">
            <a:avLst/>
          </a:prstGeom>
          <a:noFill/>
          <a:ln/>
        </p:spPr>
        <p:txBody>
          <a:bodyPr wrap="square" lIns="0" tIns="0" rIns="0" bIns="0" rtlCol="0" anchor="ctr"/>
          <a:lstStyle/>
          <a:p>
            <a:pPr marL="0" indent="0" algn="ctr">
              <a:buNone/>
            </a:pPr>
            <a:endParaRPr lang="en-US" sz="1200" dirty="0"/>
          </a:p>
        </p:txBody>
      </p:sp>
      <p:sp>
        <p:nvSpPr>
          <p:cNvPr id="29" name="Text 27"/>
          <p:cNvSpPr/>
          <p:nvPr/>
        </p:nvSpPr>
        <p:spPr>
          <a:xfrm>
            <a:off x="525780" y="2858997"/>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[4] S. Park, M. Mark, B. Park, and H. Hong, "Using speaker-specific emotion representations in Wav2Vec 2.0-based modules for speech emotion recognition," IEEE Access, 2023.</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182880" y="3950208"/>
            <a:ext cx="457200" cy="685800"/>
          </a:xfrm>
          <a:prstGeom prst="rect">
            <a:avLst/>
          </a:prstGeom>
          <a:noFill/>
          <a:ln/>
        </p:spPr>
        <p:txBody>
          <a:bodyPr wrap="square" lIns="0" tIns="0" rIns="0" bIns="0" rtlCol="0" anchor="ctr"/>
          <a:lstStyle/>
          <a:p>
            <a:pPr marL="0" indent="0" algn="ctr">
              <a:buNone/>
            </a:pPr>
            <a:endParaRPr lang="en-US" sz="1200" dirty="0"/>
          </a:p>
        </p:txBody>
      </p:sp>
      <p:sp>
        <p:nvSpPr>
          <p:cNvPr id="33" name="Text 31"/>
          <p:cNvSpPr/>
          <p:nvPr/>
        </p:nvSpPr>
        <p:spPr>
          <a:xfrm>
            <a:off x="498348" y="356120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[5] T. Chettaoui, N. Damer, and F. Boutros, "Are foundation models ready for face recognition?" Image and Vision Computing, vol. 156, p. 105453, 2025.</a:t>
            </a:r>
            <a:endParaRPr lang="en-US"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011ED4-361A-889A-4D9D-9A2789CFA140}"/>
              </a:ext>
            </a:extLst>
          </p:cNvPr>
          <p:cNvSpPr txBox="1"/>
          <p:nvPr/>
        </p:nvSpPr>
        <p:spPr>
          <a:xfrm>
            <a:off x="354330" y="4275317"/>
            <a:ext cx="8435340" cy="500137"/>
          </a:xfrm>
          <a:prstGeom prst="rect">
            <a:avLst/>
          </a:prstGeom>
          <a:noFill/>
        </p:spPr>
        <p:txBody>
          <a:bodyPr wrap="square">
            <a:spAutoFit/>
          </a:bodyPr>
          <a:lstStyle/>
          <a:p>
            <a:pPr lvl="0" algn="just">
              <a:spcAft>
                <a:spcPts val="250"/>
              </a:spcAft>
              <a:buSzPts val="800"/>
              <a:tabLst>
                <a:tab pos="228600" algn="l"/>
              </a:tabLst>
            </a:pPr>
            <a:r>
              <a:rPr lang="en-IN" sz="1200" dirty="0">
                <a:latin typeface="Times New Roman" panose="02020603050405020304" pitchFamily="18" charset="0"/>
                <a:ea typeface="MS Mincho" panose="02020609040205080304" pitchFamily="49" charset="-128"/>
                <a:cs typeface="Times New Roman" panose="02020603050405020304" pitchFamily="18" charset="0"/>
              </a:rPr>
              <a:t> </a:t>
            </a: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[6] T. Nguyen et al., “Hybrid CNN–RNN architecture for real-time emotion detection,” in Proc. IEEE Real-Time Systems</a:t>
            </a:r>
          </a:p>
          <a:p>
            <a:pPr lvl="0" algn="just">
              <a:spcAft>
                <a:spcPts val="250"/>
              </a:spcAft>
              <a:buSzPts val="800"/>
              <a:tabLst>
                <a:tab pos="228600" algn="l"/>
              </a:tabLst>
            </a:pP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 Conference, 2022.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7772400" y="91440"/>
            <a:ext cx="1188720" cy="320040"/>
          </a:xfrm>
          <a:prstGeom prst="rect">
            <a:avLst/>
          </a:prstGeom>
          <a:noFill/>
          <a:ln/>
        </p:spPr>
        <p:txBody>
          <a:bodyPr wrap="square" lIns="0" tIns="0" rIns="0" bIns="0" rtlCol="0" anchor="ctr"/>
          <a:lstStyle/>
          <a:p>
            <a:pPr marL="0" indent="0" algn="ctr">
              <a:buNone/>
            </a:pPr>
            <a:r>
              <a:rPr lang="en-US" sz="1400" b="1" dirty="0">
                <a:solidFill>
                  <a:srgbClr val="FFFFFF"/>
                </a:solidFill>
              </a:rPr>
              <a:t>10 / 0</a:t>
            </a:r>
            <a:endParaRPr lang="en-US" sz="1400" dirty="0"/>
          </a:p>
        </p:txBody>
      </p:sp>
      <p:sp>
        <p:nvSpPr>
          <p:cNvPr id="6" name="Text 4"/>
          <p:cNvSpPr/>
          <p:nvPr/>
        </p:nvSpPr>
        <p:spPr>
          <a:xfrm>
            <a:off x="2181497" y="1825787"/>
            <a:ext cx="4781005" cy="1040783"/>
          </a:xfrm>
          <a:prstGeom prst="rect">
            <a:avLst/>
          </a:prstGeom>
          <a:noFill/>
          <a:ln/>
        </p:spPr>
        <p:txBody>
          <a:bodyPr wrap="square" rtlCol="0" anchor="ctr"/>
          <a:lstStyle/>
          <a:p>
            <a:pPr marL="0" indent="0">
              <a:buNone/>
            </a:pPr>
            <a:r>
              <a:rPr lang="en-US" sz="7200" b="1" dirty="0">
                <a:latin typeface="Times New Roman" panose="02020603050405020304" pitchFamily="18" charset="0"/>
                <a:ea typeface="Calibri" pitchFamily="34" charset="-122"/>
                <a:cs typeface="Times New Roman" panose="02020603050405020304" pitchFamily="18" charset="0"/>
              </a:rPr>
              <a:t>Thank You </a:t>
            </a:r>
            <a:endParaRPr lang="en-US" sz="7200" dirty="0">
              <a:latin typeface="Times New Roman" panose="02020603050405020304" pitchFamily="18" charset="0"/>
              <a:cs typeface="Times New Roman" panose="02020603050405020304" pitchFamily="18" charset="0"/>
            </a:endParaRPr>
          </a:p>
        </p:txBody>
      </p:sp>
      <p:sp>
        <p:nvSpPr>
          <p:cNvPr id="24" name="Text 22"/>
          <p:cNvSpPr/>
          <p:nvPr/>
        </p:nvSpPr>
        <p:spPr>
          <a:xfrm>
            <a:off x="0" y="4873752"/>
            <a:ext cx="9144000" cy="269748"/>
          </a:xfrm>
          <a:prstGeom prst="rect">
            <a:avLst/>
          </a:prstGeom>
          <a:noFill/>
          <a:ln/>
        </p:spPr>
        <p:txBody>
          <a:bodyPr wrap="square" lIns="0" tIns="0" rIns="0" bIns="0" rtlCol="0" anchor="ctr"/>
          <a:lstStyle/>
          <a:p>
            <a:pPr algn="ctr"/>
            <a:r>
              <a:rPr lang="en-US" sz="1000" dirty="0">
                <a:solidFill>
                  <a:srgbClr val="FFFFFF"/>
                </a:solidFill>
              </a:rPr>
              <a:t>Affective Computing  •  Self-</a:t>
            </a:r>
            <a:r>
              <a:rPr lang="en-US" sz="1000" dirty="0" err="1">
                <a:solidFill>
                  <a:srgbClr val="FFFFFF"/>
                </a:solidFill>
              </a:rPr>
              <a:t>Suevisd</a:t>
            </a:r>
            <a:r>
              <a:rPr lang="en-US" sz="1000" dirty="0">
                <a:solidFill>
                  <a:srgbClr val="FFFFFF"/>
                </a:solidFill>
              </a:rPr>
              <a:t> Learning  •  Multimodal AI</a:t>
            </a:r>
            <a:endParaRPr lang="en-US" sz="1000" dirty="0"/>
          </a:p>
        </p:txBody>
      </p:sp>
    </p:spTree>
    <p:extLst>
      <p:ext uri="{BB962C8B-B14F-4D97-AF65-F5344CB8AC3E}">
        <p14:creationId xmlns:p14="http://schemas.microsoft.com/office/powerpoint/2010/main" val="1671474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TotalTime>
  <Words>936</Words>
  <Application>Microsoft Office PowerPoint</Application>
  <PresentationFormat>On-screen Show (16:9)</PresentationFormat>
  <Paragraphs>62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 Facial Dynamics–Driven Audio-Visual Emotion Recognition</dc:title>
  <dc:subject>PptxGenJS Presentation</dc:subject>
  <dc:creator>PptxGenJS</dc:creator>
  <cp:lastModifiedBy>Hariprasad M</cp:lastModifiedBy>
  <cp:revision>54</cp:revision>
  <dcterms:created xsi:type="dcterms:W3CDTF">2026-03-06T13:46:17Z</dcterms:created>
  <dcterms:modified xsi:type="dcterms:W3CDTF">2026-04-26T05:24:09Z</dcterms:modified>
</cp:coreProperties>
</file>